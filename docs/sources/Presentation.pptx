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7029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16478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577346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508426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875553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029689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438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7677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192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25293C-A110-EF81-DB17-FBB2237020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148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9591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785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21EA74-E47C-E225-2302-9CAFC5A22D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329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8872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620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352BC3-3937-77B8-53E0-0DD295B2BB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15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9333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614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B1D877-4A83-978D-4047-C53DD0D7AF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273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2241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82643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A3A5AB-B05D-2439-3FF6-E3208942C4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161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2363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708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714C66-014C-9B70-839B-D9A1686852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626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250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522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CDF6C3-699D-4DC1-A80D-E40F710271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393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913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107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520D8C-D2CA-43DE-719E-E1C1BF23EB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37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26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250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659DE0-1349-B25D-4666-7C2A903FEC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201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260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8323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1ADF02-D196-DD1A-CE01-DDB56006DC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375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4409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2072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8667CF-5190-1347-8C78-163D6FD3A0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86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061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372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84B4F8-8545-871A-21F8-BCFE3CD13E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849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74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16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0FBA6A-3794-1282-B418-0113BF726E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60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580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190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C4077-E898-1948-F668-24886D9839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217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1011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2680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4C254-C7FE-0A28-1AA6-3B169F5B26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507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003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48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183997-3E56-4433-C8C8-AA77193D90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42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574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2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E7E552-B8B4-3342-9534-729342455A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4474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82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248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B2E9C4-F1A8-124F-8590-0363203AA5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1424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126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2801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007E1-458B-2CC5-EAEB-A748C8102B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504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7010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43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4E857B-B1B7-3DFA-89AE-8CDC475F59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57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249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25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E32F4A-2606-087D-AE67-8D66CB6AD6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782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45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718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BE17E-E895-CBBD-5F7C-C839650759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42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36565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654808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67806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53736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182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503673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8640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414544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87964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7358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99364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27299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191686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59724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726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3436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162629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93558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84084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086033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5597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58682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4047879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207116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486518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436646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1108782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266999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3010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623293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222167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657867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3019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3861093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06959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11858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691701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15135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38051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16269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82012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9608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644235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72636196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034507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844305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1333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5208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51471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197751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19561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6818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3866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083263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02151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382469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16293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56814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29488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154970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950619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73183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790579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17357919" name="Rectangle 2"/>
          <p:cNvSpPr/>
          <p:nvPr/>
        </p:nvSpPr>
        <p:spPr bwMode="auto"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03402749" name="Rectangle 3"/>
          <p:cNvSpPr/>
          <p:nvPr/>
        </p:nvSpPr>
        <p:spPr bwMode="auto">
          <a:xfrm>
            <a:off x="0" y="6693408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3142427" name="TextBox 4"/>
          <p:cNvSpPr txBox="1"/>
          <p:nvPr/>
        </p:nvSpPr>
        <p:spPr bwMode="auto">
          <a:xfrm>
            <a:off x="914400" y="640080"/>
            <a:ext cx="10402854" cy="6770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lang="ru-RU" sz="1400" b="1" i="0">
                <a:solidFill>
                  <a:schemeClr val="tx1"/>
                </a:solidFill>
                <a:latin typeface="Segoe UI"/>
              </a:rPr>
              <a:t>Северо-Кавказский федеральный университет</a:t>
            </a:r>
            <a:br>
              <a:rPr lang="ru-RU" sz="1400" b="1" i="0">
                <a:solidFill>
                  <a:schemeClr val="tx1"/>
                </a:solidFill>
                <a:latin typeface="Segoe UI"/>
              </a:rPr>
            </a:br>
            <a:r>
              <a:rPr lang="ru-RU" sz="1400" b="1" i="0">
                <a:solidFill>
                  <a:schemeClr val="tx1"/>
                </a:solidFill>
                <a:latin typeface="Segoe UI"/>
              </a:rPr>
              <a:t>Институ</a:t>
            </a:r>
            <a:r>
              <a:rPr lang="ru-RU" sz="1400" b="1" i="0">
                <a:solidFill>
                  <a:schemeClr val="tx1"/>
                </a:solidFill>
                <a:latin typeface="Segoe UI"/>
              </a:rPr>
              <a:t>т перспективной инженерии</a:t>
            </a:r>
            <a:br>
              <a:rPr lang="ru-RU" sz="1400" b="1" i="0">
                <a:solidFill>
                  <a:schemeClr val="tx1"/>
                </a:solidFill>
                <a:latin typeface="Segoe UI"/>
              </a:rPr>
            </a:br>
            <a:r>
              <a:rPr lang="ru-RU" sz="1400" b="1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Департамент цифровых, робототехнических систем и электроники</a:t>
            </a:r>
            <a:endParaRPr sz="1400" b="1">
              <a:solidFill>
                <a:srgbClr val="334155"/>
              </a:solidFill>
            </a:endParaRPr>
          </a:p>
        </p:txBody>
      </p:sp>
      <p:sp>
        <p:nvSpPr>
          <p:cNvPr id="558205663" name="TextBox 5"/>
          <p:cNvSpPr txBox="1"/>
          <p:nvPr/>
        </p:nvSpPr>
        <p:spPr bwMode="auto">
          <a:xfrm>
            <a:off x="822960" y="2359331"/>
            <a:ext cx="10546494" cy="14085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1400" b="1" i="0">
                <a:solidFill>
                  <a:srgbClr val="2563EB"/>
                </a:solidFill>
                <a:latin typeface="Segoe UI"/>
              </a:rPr>
              <a:t>Выпускная квалификационная работа</a:t>
            </a:r>
            <a:endParaRPr/>
          </a:p>
          <a:p>
            <a:pPr algn="ctr">
              <a:defRPr/>
            </a:pPr>
            <a:r>
              <a:rPr sz="3000" b="1" i="0">
                <a:solidFill>
                  <a:schemeClr val="tx1"/>
                </a:solidFill>
                <a:latin typeface="Segoe UI"/>
              </a:rPr>
              <a:t>Разработка веб-приложения для организации</a:t>
            </a:r>
            <a:br>
              <a:rPr sz="3000" b="1" i="0">
                <a:solidFill>
                  <a:schemeClr val="tx1"/>
                </a:solidFill>
                <a:latin typeface="Segoe UI"/>
              </a:rPr>
            </a:br>
            <a:r>
              <a:rPr sz="3000" b="1" i="0">
                <a:solidFill>
                  <a:schemeClr val="tx1"/>
                </a:solidFill>
                <a:latin typeface="Segoe UI"/>
              </a:rPr>
              <a:t>личного файлового хранилища</a:t>
            </a:r>
            <a:endParaRPr>
              <a:solidFill>
                <a:schemeClr val="tx1"/>
              </a:solidFill>
            </a:endParaRPr>
          </a:p>
          <a:p>
            <a:pPr algn="ctr">
              <a:defRPr/>
            </a:pPr>
            <a:r>
              <a:rPr sz="1600" b="0" i="1">
                <a:solidFill>
                  <a:srgbClr val="334155"/>
                </a:solidFill>
                <a:latin typeface="Segoe UI"/>
              </a:rPr>
              <a:t>LocalCloud — self-hosted облачное хранилище</a:t>
            </a:r>
            <a:endParaRPr>
              <a:solidFill>
                <a:srgbClr val="334155"/>
              </a:solidFill>
            </a:endParaRPr>
          </a:p>
        </p:txBody>
      </p:sp>
      <p:sp>
        <p:nvSpPr>
          <p:cNvPr id="582973641" name="TextBox 6"/>
          <p:cNvSpPr txBox="1"/>
          <p:nvPr/>
        </p:nvSpPr>
        <p:spPr bwMode="auto">
          <a:xfrm flipH="0" flipV="0">
            <a:off x="822960" y="4480559"/>
            <a:ext cx="10865137" cy="1362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400" b="0" i="0">
                <a:solidFill>
                  <a:srgbClr val="334155"/>
                </a:solidFill>
                <a:latin typeface="Segoe UI"/>
              </a:rPr>
              <a:t>Выполнил:</a:t>
            </a:r>
            <a:r>
              <a:rPr sz="1400" b="0" i="0">
                <a:solidFill>
                  <a:srgbClr val="94A3B8"/>
                </a:solidFill>
                <a:latin typeface="Segoe UI"/>
              </a:rPr>
              <a:t>  </a:t>
            </a:r>
            <a:r>
              <a:rPr sz="1400" b="1" i="0">
                <a:solidFill>
                  <a:schemeClr val="tx1"/>
                </a:solidFill>
                <a:latin typeface="Segoe UI"/>
              </a:rPr>
              <a:t>Магомедов Имран Борисович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Группа</a:t>
            </a:r>
            <a:r>
              <a:rPr lang="en-US" sz="1400">
                <a:solidFill>
                  <a:srgbClr val="334155"/>
                </a:solidFill>
                <a:latin typeface="Segoe UI"/>
                <a:ea typeface="Segoe UI"/>
                <a:cs typeface="Segoe UI"/>
              </a:rPr>
              <a:t>:</a:t>
            </a:r>
            <a:r>
              <a:rPr lang="en-US" sz="1400">
                <a:solidFill>
                  <a:srgbClr val="334155"/>
                </a:solidFill>
                <a:latin typeface="Standard Symbols PS"/>
                <a:ea typeface="Standard Symbols PS"/>
                <a:cs typeface="Standard Symbols PS"/>
              </a:rPr>
              <a:t> </a:t>
            </a:r>
            <a:r>
              <a:rPr lang="en-US" sz="1400" b="1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ПИЖ-б-о-22-1</a:t>
            </a:r>
            <a:endParaRPr sz="1400" b="1" i="0">
              <a:solidFill>
                <a:schemeClr val="tx1"/>
              </a:solidFill>
              <a:latin typeface="Segoe UI"/>
            </a:endParaRPr>
          </a:p>
          <a:p>
            <a:pPr>
              <a:defRPr/>
            </a:pPr>
            <a:r>
              <a:rPr lang="ru-RU" sz="1400" b="0" i="0">
                <a:solidFill>
                  <a:srgbClr val="334155"/>
                </a:solidFill>
                <a:latin typeface="Segoe UI"/>
              </a:rPr>
              <a:t>Специальность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:</a:t>
            </a:r>
            <a:r>
              <a:rPr sz="1400" b="0" i="0">
                <a:solidFill>
                  <a:srgbClr val="94A3B8"/>
                </a:solidFill>
                <a:latin typeface="Segoe UI"/>
              </a:rPr>
              <a:t>  </a:t>
            </a:r>
            <a:r>
              <a:rPr sz="1400" b="1" i="0">
                <a:solidFill>
                  <a:schemeClr val="tx1"/>
                </a:solidFill>
                <a:latin typeface="Segoe UI"/>
              </a:rPr>
              <a:t>09.03.04 Программная инженерия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 sz="1400" b="0" i="0">
                <a:solidFill>
                  <a:srgbClr val="334155"/>
                </a:solidFill>
                <a:latin typeface="Segoe UI"/>
              </a:rPr>
              <a:t>Руководитель:</a:t>
            </a:r>
            <a:r>
              <a:rPr sz="1400" b="0" i="0">
                <a:solidFill>
                  <a:srgbClr val="94A3B8"/>
                </a:solidFill>
                <a:latin typeface="Segoe UI"/>
              </a:rPr>
              <a:t>  </a:t>
            </a:r>
            <a:r>
              <a:rPr lang="ru-RU" sz="1400" b="1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д</a:t>
            </a:r>
            <a:r>
              <a:rPr lang="en-US" sz="1400" b="1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оцент, кандидат технических наук Самойлов Филипп Владимирович</a:t>
            </a:r>
            <a:endParaRPr>
              <a:solidFill>
                <a:schemeClr val="tx1"/>
              </a:solidFill>
            </a:endParaRPr>
          </a:p>
          <a:p>
            <a:pPr algn="l">
              <a:defRPr/>
            </a:pP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Ставрополь, 2026</a:t>
            </a:r>
            <a:endParaRPr sz="1300" b="0" i="0">
              <a:solidFill>
                <a:srgbClr val="334155"/>
              </a:solidFill>
              <a:latin typeface="Segoe UI"/>
            </a:endParaRPr>
          </a:p>
        </p:txBody>
      </p:sp>
      <p:pic>
        <p:nvPicPr>
          <p:cNvPr id="1641005896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1054409" y="439015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336081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1376982" name="TextBox 2"/>
          <p:cNvSpPr txBox="1"/>
          <p:nvPr/>
        </p:nvSpPr>
        <p:spPr bwMode="auto">
          <a:xfrm>
            <a:off x="548640" y="510539"/>
            <a:ext cx="11094774" cy="6160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1 · АНАЛИЗ ПРЕДМЕТНОЙ ОБЛАСТИ</a:t>
            </a:r>
            <a:endParaRPr/>
          </a:p>
          <a:p>
            <a:pPr>
              <a:defRPr/>
            </a:pPr>
            <a:r>
              <a:rPr sz="2600" b="1" i="0">
                <a:solidFill>
                  <a:schemeClr val="tx1"/>
                </a:solidFill>
                <a:latin typeface="Segoe UI"/>
              </a:rPr>
              <a:t>Актуальность</a:t>
            </a:r>
            <a:endParaRPr/>
          </a:p>
        </p:txBody>
      </p:sp>
      <p:sp>
        <p:nvSpPr>
          <p:cNvPr id="1387213902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30054506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210420299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</a:t>
            </a:r>
            <a:endParaRPr/>
          </a:p>
        </p:txBody>
      </p:sp>
      <p:sp>
        <p:nvSpPr>
          <p:cNvPr id="1817565679" name="TextBox 6"/>
          <p:cNvSpPr txBox="1"/>
          <p:nvPr/>
        </p:nvSpPr>
        <p:spPr bwMode="auto">
          <a:xfrm>
            <a:off x="640080" y="1691640"/>
            <a:ext cx="10914053" cy="36488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Рост </a:t>
            </a:r>
            <a:r>
              <a:rPr sz="1800" b="1" i="0">
                <a:solidFill>
                  <a:schemeClr val="tx1"/>
                </a:solidFill>
                <a:latin typeface="Segoe UI"/>
              </a:rPr>
              <a:t>личных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данных: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 фото/видео, документы, архивы — объём постоянно растёт.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Публичные облака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 (Google Drive, Dropbox, Я.Диск) — подписка, рост платежей, риски: блокировки, смена тарифов, контроль над данными у провайдера; после 2022 г. — проблемы оплаты.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Self-hosted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 (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Nextcloud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, ownCloud, Seafile) решает приватность, но рассчитан на мощные серверы: файловый трафик идёт через приложение → высокая нагрузка CPU/RAM.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8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800" b="1" i="0">
                <a:solidFill>
                  <a:srgbClr val="0F172A"/>
                </a:solidFill>
                <a:latin typeface="Segoe UI"/>
              </a:rPr>
              <a:t>Типовой доступный сервер</a:t>
            </a:r>
            <a:r>
              <a:rPr sz="1800" b="0" i="0">
                <a:solidFill>
                  <a:srgbClr val="334155"/>
                </a:solidFill>
                <a:latin typeface="Segoe UI"/>
              </a:rPr>
              <a:t> частного пользователя — бюджетный VPS: 1 CPU / 1 ГБ ОЗУ.</a:t>
            </a:r>
            <a:endParaRPr/>
          </a:p>
          <a:p>
            <a:pPr lvl="1">
              <a:spcAft>
                <a:spcPts val="1200"/>
              </a:spcAft>
              <a:defRPr/>
            </a:pPr>
            <a:r>
              <a:rPr sz="1800" b="0" i="0">
                <a:solidFill>
                  <a:srgbClr val="64748B"/>
                </a:solidFill>
                <a:latin typeface="Segoe UI"/>
              </a:rPr>
              <a:t>– 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Инженерная задача: передавать и обрабатывать данные, многократно превышающие память сервера.</a:t>
            </a:r>
            <a:endParaRPr/>
          </a:p>
        </p:txBody>
      </p:sp>
      <p:pic>
        <p:nvPicPr>
          <p:cNvPr id="16652980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23398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5842569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1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Цель и задачи</a:t>
            </a:r>
            <a:endParaRPr/>
          </a:p>
        </p:txBody>
      </p:sp>
      <p:sp>
        <p:nvSpPr>
          <p:cNvPr id="142559964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0598624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415383017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2</a:t>
            </a:r>
            <a:endParaRPr/>
          </a:p>
        </p:txBody>
      </p:sp>
      <p:sp>
        <p:nvSpPr>
          <p:cNvPr id="163757751" name="TextBox 6"/>
          <p:cNvSpPr txBox="1"/>
          <p:nvPr/>
        </p:nvSpPr>
        <p:spPr bwMode="auto">
          <a:xfrm>
            <a:off x="640080" y="1600200"/>
            <a:ext cx="10911535" cy="10515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Цель</a:t>
            </a:r>
            <a:endParaRPr/>
          </a:p>
          <a:p>
            <a:pPr>
              <a:defRPr/>
            </a:pPr>
            <a:r>
              <a:rPr sz="1500" b="0" i="0">
                <a:solidFill>
                  <a:srgbClr val="334155"/>
                </a:solidFill>
                <a:latin typeface="Segoe UI"/>
              </a:rPr>
              <a:t>Разработать веб-приложение LocalCloud: личное файловое хранилище с загрузкой/скачиванием больших файлов, иерархией, разграничением доступа и публикацией по ссылкам, сохраняющее работоспособность на сервере 1 CPU / 1 ГБ ОЗУ.</a:t>
            </a:r>
            <a:endParaRPr/>
          </a:p>
        </p:txBody>
      </p:sp>
      <p:sp>
        <p:nvSpPr>
          <p:cNvPr id="732950724" name="TextBox 7"/>
          <p:cNvSpPr txBox="1"/>
          <p:nvPr/>
        </p:nvSpPr>
        <p:spPr bwMode="auto">
          <a:xfrm>
            <a:off x="640080" y="2788920"/>
            <a:ext cx="10911535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9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Проанализировать предметную область и аналоги, сформировать требования.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Спроектировать архитектуру по C4, БД, REST API, подсистемы хранения, задач и безопасности.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Реализовать серверную и клиентскую части и средства развёртывания.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Провести модульное, интеграционное, нагрузочное тестирование и тестирование безопасности.</a:t>
            </a:r>
            <a:endParaRPr/>
          </a:p>
          <a:p>
            <a:pPr>
              <a:spcAft>
                <a:spcPts val="9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Выполнить технико-экономическое обоснование и рассмотреть охрану труда.</a:t>
            </a:r>
            <a:endParaRPr/>
          </a:p>
        </p:txBody>
      </p:sp>
      <p:pic>
        <p:nvPicPr>
          <p:cNvPr id="1722215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738956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87531021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1 · USE CASE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Заинтересованные лица (акторы)</a:t>
            </a:r>
            <a:endParaRPr/>
          </a:p>
        </p:txBody>
      </p:sp>
      <p:sp>
        <p:nvSpPr>
          <p:cNvPr id="275120179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7316478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317286958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3</a:t>
            </a:r>
            <a:endParaRPr/>
          </a:p>
        </p:txBody>
      </p:sp>
      <p:sp>
        <p:nvSpPr>
          <p:cNvPr id="983417788" name="TextBox 6"/>
          <p:cNvSpPr txBox="1"/>
          <p:nvPr/>
        </p:nvSpPr>
        <p:spPr bwMode="auto">
          <a:xfrm flipH="0" flipV="0">
            <a:off x="640080" y="1691640"/>
            <a:ext cx="4888956" cy="32906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Гость: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вход, заявка на регистрацию, доступ по публичной ссылке (просмотр / скачивание / загрузка, возможно по паролю).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Пользователь: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свои файлы, папки и корзина; выдача доступа другим; публичные ссылки; квота и сессии.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Администратор: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учётные записи и заявки, блокировки, квоты, журнал аудита, фоновые задачи.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Фоновый обработчик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(системный актор): архивы, превью, плановая очистка из очереди задач.</a:t>
            </a:r>
            <a:endParaRPr/>
          </a:p>
        </p:txBody>
      </p:sp>
      <p:pic>
        <p:nvPicPr>
          <p:cNvPr id="640438593" name="Picture 7" descr="user-cas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714542" y="1691640"/>
            <a:ext cx="5989776" cy="4130879"/>
          </a:xfrm>
          <a:prstGeom prst="rect">
            <a:avLst/>
          </a:prstGeom>
        </p:spPr>
      </p:pic>
      <p:sp>
        <p:nvSpPr>
          <p:cNvPr id="812232331" name="TextBox 8"/>
          <p:cNvSpPr txBox="1"/>
          <p:nvPr/>
        </p:nvSpPr>
        <p:spPr bwMode="auto">
          <a:xfrm>
            <a:off x="6286271" y="6144768"/>
            <a:ext cx="4846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Рисунок 1.1 — Диаграмма вариантов использования</a:t>
            </a:r>
            <a:endParaRPr/>
          </a:p>
        </p:txBody>
      </p:sp>
      <p:pic>
        <p:nvPicPr>
          <p:cNvPr id="201705378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851496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8411144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1 · ТРЕБОВАНИЯ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Основной функционал</a:t>
            </a:r>
            <a:endParaRPr/>
          </a:p>
        </p:txBody>
      </p:sp>
      <p:sp>
        <p:nvSpPr>
          <p:cNvPr id="151580401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42477667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467387204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4</a:t>
            </a:r>
            <a:endParaRPr/>
          </a:p>
        </p:txBody>
      </p:sp>
      <p:sp>
        <p:nvSpPr>
          <p:cNvPr id="1837736311" name="TextBox 6"/>
          <p:cNvSpPr txBox="1"/>
          <p:nvPr/>
        </p:nvSpPr>
        <p:spPr bwMode="auto">
          <a:xfrm>
            <a:off x="640080" y="1691640"/>
            <a:ext cx="10916934" cy="28664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Файлы и папки: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дерево произвольной вложенности, перемещение, копирование, переименование, поиск.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Многочастичная загрузка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напрямую в объектное хранилище по presigned-URL (мимо backend).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Скачивание архивами: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упаковка папок/наборов в ZIP фоновым процессом.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Корзина: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мягкое удаление, восстановление, автоочистка.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Общий доступ: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права между пользователями (5 уровней, наследование) и публичные ссылки (срок, пароль).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Квоты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, </a:t>
            </a:r>
            <a:r>
              <a:rPr sz="1600" b="1" i="0">
                <a:solidFill>
                  <a:srgbClr val="334155"/>
                </a:solidFill>
                <a:latin typeface="Segoe UI"/>
              </a:rPr>
              <a:t>превью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(изображения, PDF, видео), </a:t>
            </a:r>
            <a:r>
              <a:rPr sz="1600" b="1" i="0">
                <a:solidFill>
                  <a:srgbClr val="334155"/>
                </a:solidFill>
                <a:latin typeface="Segoe UI"/>
              </a:rPr>
              <a:t>аутентификация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(JWT, регистрация по заявке), </a:t>
            </a:r>
            <a:r>
              <a:rPr sz="1600" b="1" i="0">
                <a:solidFill>
                  <a:srgbClr val="334155"/>
                </a:solidFill>
                <a:latin typeface="Segoe UI"/>
              </a:rPr>
              <a:t>админ-панель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.</a:t>
            </a:r>
            <a:endParaRPr/>
          </a:p>
        </p:txBody>
      </p:sp>
      <p:pic>
        <p:nvPicPr>
          <p:cNvPr id="63879147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794435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9602800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1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Нефункциональные требования</a:t>
            </a:r>
            <a:endParaRPr/>
          </a:p>
        </p:txBody>
      </p:sp>
      <p:sp>
        <p:nvSpPr>
          <p:cNvPr id="1982128068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37871629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877806856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5</a:t>
            </a:r>
            <a:endParaRPr/>
          </a:p>
        </p:txBody>
      </p:sp>
      <p:sp>
        <p:nvSpPr>
          <p:cNvPr id="610541493" name="TextBox 6"/>
          <p:cNvSpPr txBox="1"/>
          <p:nvPr/>
        </p:nvSpPr>
        <p:spPr bwMode="auto">
          <a:xfrm>
            <a:off x="640080" y="1691640"/>
            <a:ext cx="10911535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1" i="0">
                <a:solidFill>
                  <a:srgbClr val="0F172A"/>
                </a:solidFill>
                <a:latin typeface="Segoe UI"/>
              </a:rPr>
              <a:t>Производительность: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 работа на 1 CPU / 1 ГБ ОЗУ при 3–5 пользователях; размер файла не ограничен памятью сервера.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1" i="0">
                <a:solidFill>
                  <a:srgbClr val="0F172A"/>
                </a:solidFill>
                <a:latin typeface="Segoe UI"/>
              </a:rPr>
              <a:t>Безопасность: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 JWT в httpOnly-cookie с ротацией, пароли только хэшами, проверка прав на каждую операцию, защита от перебора.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1" i="0">
                <a:solidFill>
                  <a:srgbClr val="0F172A"/>
                </a:solidFill>
                <a:latin typeface="Segoe UI"/>
              </a:rPr>
              <a:t>Надёжность: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 перезапуск без потери данных, повтор фоновых задач с нарастающей задержкой, миграции схемы.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1" i="0">
                <a:solidFill>
                  <a:srgbClr val="0F172A"/>
                </a:solidFill>
                <a:latin typeface="Segoe UI"/>
              </a:rPr>
              <a:t>Интерфейс: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 адаптивный SPA, тёмная/светлая темы, отзывчивость.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1" i="0">
                <a:solidFill>
                  <a:srgbClr val="0F172A"/>
                </a:solidFill>
                <a:latin typeface="Segoe UI"/>
              </a:rPr>
              <a:t>Развёртывание и сопровождение: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 запуск одной командой Docker Compose, конфигурация под ресурсы хоста.</a:t>
            </a:r>
            <a:endParaRPr/>
          </a:p>
        </p:txBody>
      </p:sp>
      <p:pic>
        <p:nvPicPr>
          <p:cNvPr id="8542141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590784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86028688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2 · ПРОЕКТИРОВАНИЕ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Архитектура системы (C4: контейнеры)</a:t>
            </a:r>
            <a:endParaRPr/>
          </a:p>
        </p:txBody>
      </p:sp>
      <p:sp>
        <p:nvSpPr>
          <p:cNvPr id="1800221969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2039172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2142655501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6</a:t>
            </a:r>
            <a:endParaRPr/>
          </a:p>
        </p:txBody>
      </p:sp>
      <p:sp>
        <p:nvSpPr>
          <p:cNvPr id="53353098" name="TextBox 6"/>
          <p:cNvSpPr txBox="1"/>
          <p:nvPr/>
        </p:nvSpPr>
        <p:spPr bwMode="auto">
          <a:xfrm>
            <a:off x="640080" y="1645920"/>
            <a:ext cx="6036838" cy="31738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Многоуровневая клиент-серверная архитектура; модель </a:t>
            </a:r>
            <a:r>
              <a:rPr sz="1500" b="1" i="0">
                <a:solidFill>
                  <a:srgbClr val="334155"/>
                </a:solidFill>
                <a:latin typeface="Segoe UI"/>
              </a:rPr>
              <a:t>C4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SPA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(React) → только через шлюз.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nginx-шлюз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— единая точка входа: /, /api, бакеты.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API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(FastAPI) — метаданные, права, координация загрузок.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Worker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— ресурсоёмкие и плановые операции.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PostgreSQL 16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— метаданные и очередь задач.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MinIO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— S3-хранилище содержимого.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Ключ: файловый трафик идёт SPA → шлюз → MinIO в обход API.</a:t>
            </a:r>
            <a:endParaRPr/>
          </a:p>
        </p:txBody>
      </p:sp>
      <p:pic>
        <p:nvPicPr>
          <p:cNvPr id="998842428" name="Picture 7" descr="c2-container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77687" y="1252728"/>
            <a:ext cx="3855657" cy="5010909"/>
          </a:xfrm>
          <a:prstGeom prst="rect">
            <a:avLst/>
          </a:prstGeom>
        </p:spPr>
      </p:pic>
      <p:sp>
        <p:nvSpPr>
          <p:cNvPr id="1701452554" name="TextBox 8"/>
          <p:cNvSpPr txBox="1"/>
          <p:nvPr/>
        </p:nvSpPr>
        <p:spPr bwMode="auto">
          <a:xfrm>
            <a:off x="6903720" y="6281927"/>
            <a:ext cx="4800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Рисунок 2.2 — Диаграмма контейнеров (C4, C2)</a:t>
            </a:r>
            <a:endParaRPr/>
          </a:p>
        </p:txBody>
      </p:sp>
      <p:pic>
        <p:nvPicPr>
          <p:cNvPr id="126742429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281129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90441023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2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Слои серверного приложения (C4: компоненты)</a:t>
            </a:r>
            <a:endParaRPr/>
          </a:p>
        </p:txBody>
      </p:sp>
      <p:sp>
        <p:nvSpPr>
          <p:cNvPr id="1496402777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0050973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512152198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7</a:t>
            </a:r>
            <a:endParaRPr/>
          </a:p>
        </p:txBody>
      </p:sp>
      <p:sp>
        <p:nvSpPr>
          <p:cNvPr id="1143967484" name="TextBox 6"/>
          <p:cNvSpPr txBox="1"/>
          <p:nvPr/>
        </p:nvSpPr>
        <p:spPr bwMode="auto">
          <a:xfrm flipH="0" flipV="0">
            <a:off x="640080" y="1645920"/>
            <a:ext cx="5395679" cy="34430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700"/>
              </a:spcAft>
              <a:defRPr/>
            </a:pPr>
            <a:r>
              <a:rPr sz="14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Маршрутизаторы (api):</a:t>
            </a:r>
            <a:r>
              <a:rPr sz="1450" b="0" i="0">
                <a:solidFill>
                  <a:srgbClr val="334155"/>
                </a:solidFill>
                <a:latin typeface="Segoe UI"/>
              </a:rPr>
              <a:t> валидация схем, права, формирование ответа; знают только о сервисах.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4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Доменные сервисы (services):</a:t>
            </a:r>
            <a:r>
              <a:rPr sz="1450" b="0" i="0">
                <a:solidFill>
                  <a:srgbClr val="334155"/>
                </a:solidFill>
                <a:latin typeface="Segoe UI"/>
              </a:rPr>
              <a:t> бизнес-логика прецедентов; оркеструют репозитории и хранилище.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4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Репозитории (repositories):</a:t>
            </a:r>
            <a:r>
              <a:rPr sz="1450" b="0" i="0">
                <a:solidFill>
                  <a:srgbClr val="334155"/>
                </a:solidFill>
                <a:latin typeface="Segoe UI"/>
              </a:rPr>
              <a:t> инкапсулируют SQL; рекурсивные CTE для деревьев и прав.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4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Unit of Work:</a:t>
            </a:r>
            <a:r>
              <a:rPr sz="1450" b="0" i="0">
                <a:solidFill>
                  <a:srgbClr val="334155"/>
                </a:solidFill>
                <a:latin typeface="Segoe UI"/>
              </a:rPr>
              <a:t> владеет сессией БД, явная фиксация, авто-откат при выходе без commit.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4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Модели (models):</a:t>
            </a:r>
            <a:r>
              <a:rPr sz="1450" b="0" i="0">
                <a:solidFill>
                  <a:srgbClr val="334155"/>
                </a:solidFill>
                <a:latin typeface="Segoe UI"/>
              </a:rPr>
              <a:t> декларативные классы SQLAlchemy 2 (Mapped).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4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450" b="1" i="0">
                <a:solidFill>
                  <a:srgbClr val="0F172A"/>
                </a:solidFill>
                <a:latin typeface="Segoe UI"/>
              </a:rPr>
              <a:t>Storage-фасад:</a:t>
            </a:r>
            <a:r>
              <a:rPr sz="1450" b="0" i="0">
                <a:solidFill>
                  <a:srgbClr val="334155"/>
                </a:solidFill>
                <a:latin typeface="Segoe UI"/>
              </a:rPr>
              <a:t> единый интерфейс к MinIO (бакеты, объекты, multipart, presigned).</a:t>
            </a:r>
            <a:endParaRPr/>
          </a:p>
          <a:p>
            <a:pPr>
              <a:spcAft>
                <a:spcPts val="700"/>
              </a:spcAft>
              <a:defRPr/>
            </a:pPr>
            <a:r>
              <a:rPr sz="14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450" b="0" i="0">
                <a:solidFill>
                  <a:srgbClr val="334155"/>
                </a:solidFill>
                <a:latin typeface="Segoe UI"/>
              </a:rPr>
              <a:t>Зависимости строго к нижним слоям — циклов нет.</a:t>
            </a:r>
            <a:endParaRPr/>
          </a:p>
        </p:txBody>
      </p:sp>
      <p:pic>
        <p:nvPicPr>
          <p:cNvPr id="621012533" name="Picture 7" descr="c3-component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52726" y="1645920"/>
            <a:ext cx="5551593" cy="4493354"/>
          </a:xfrm>
          <a:prstGeom prst="rect">
            <a:avLst/>
          </a:prstGeom>
        </p:spPr>
      </p:pic>
      <p:sp>
        <p:nvSpPr>
          <p:cNvPr id="1060200214" name="TextBox 8"/>
          <p:cNvSpPr txBox="1"/>
          <p:nvPr/>
        </p:nvSpPr>
        <p:spPr bwMode="auto">
          <a:xfrm>
            <a:off x="6522643" y="6240780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Рисунок 2.3 — Диаграмма компонентов (C4, C3)</a:t>
            </a:r>
            <a:endParaRPr/>
          </a:p>
        </p:txBody>
      </p:sp>
      <p:pic>
        <p:nvPicPr>
          <p:cNvPr id="108418487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333172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9185429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2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Паттерны проектирования</a:t>
            </a:r>
            <a:endParaRPr/>
          </a:p>
        </p:txBody>
      </p:sp>
      <p:sp>
        <p:nvSpPr>
          <p:cNvPr id="1157935048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761607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704951935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8</a:t>
            </a:r>
            <a:endParaRPr/>
          </a:p>
        </p:txBody>
      </p:sp>
      <p:sp>
        <p:nvSpPr>
          <p:cNvPr id="1312544849" name="TextBox 6"/>
          <p:cNvSpPr txBox="1"/>
          <p:nvPr/>
        </p:nvSpPr>
        <p:spPr bwMode="auto">
          <a:xfrm>
            <a:off x="640080" y="1691640"/>
            <a:ext cx="10911535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700" b="1" i="0">
                <a:solidFill>
                  <a:srgbClr val="0F172A"/>
                </a:solidFill>
                <a:latin typeface="Segoe UI"/>
              </a:rPr>
              <a:t>Repository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 — изоляция бизнес-логики от SQL/ORM.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700" b="1" i="0">
                <a:solidFill>
                  <a:srgbClr val="0F172A"/>
                </a:solidFill>
                <a:latin typeface="Segoe UI"/>
              </a:rPr>
              <a:t>Unit of Work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 — транзакционный контейнер с явной фиксацией.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700" b="1" i="0">
                <a:solidFill>
                  <a:srgbClr val="0F172A"/>
                </a:solidFill>
                <a:latin typeface="Segoe UI"/>
              </a:rPr>
              <a:t>Facade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 — StorageService как единый интерфейс к хранилищу.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700" b="1" i="0">
                <a:solidFill>
                  <a:srgbClr val="0F172A"/>
                </a:solidFill>
                <a:latin typeface="Segoe UI"/>
              </a:rPr>
              <a:t>Adapter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 — асинхронная обёртка блокирующего MinIO SDK поверх пула потоков.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700" b="1" i="0">
                <a:solidFill>
                  <a:srgbClr val="0F172A"/>
                </a:solidFill>
                <a:latin typeface="Segoe UI"/>
              </a:rPr>
              <a:t>Dependency Injection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 — зависимости через механизм FastAPI (развязка слоёв, подмена в тестах).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700" b="1" i="0">
                <a:solidFill>
                  <a:srgbClr val="0F172A"/>
                </a:solidFill>
                <a:latin typeface="Segoe UI"/>
              </a:rPr>
              <a:t>Command + Registry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 — обработчики фоновых задач в реестре по типу задачи.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7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700" b="1" i="0">
                <a:solidFill>
                  <a:srgbClr val="0F172A"/>
                </a:solidFill>
                <a:latin typeface="Segoe UI"/>
              </a:rPr>
              <a:t>Proxy</a:t>
            </a:r>
            <a:r>
              <a:rPr sz="1700" b="0" i="0">
                <a:solidFill>
                  <a:srgbClr val="334155"/>
                </a:solidFill>
                <a:latin typeface="Segoe UI"/>
              </a:rPr>
              <a:t> — ленивый прокси настроек (чтение конфигурации при первом обращении).</a:t>
            </a:r>
            <a:endParaRPr/>
          </a:p>
        </p:txBody>
      </p:sp>
      <p:pic>
        <p:nvPicPr>
          <p:cNvPr id="20890042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010007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3713528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2 · ПРОЕКТНАЯ ЧАСТЬ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Проектирование БД · инфологическая модель</a:t>
            </a:r>
            <a:endParaRPr/>
          </a:p>
        </p:txBody>
      </p:sp>
      <p:sp>
        <p:nvSpPr>
          <p:cNvPr id="1508407644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0102338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113230965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9</a:t>
            </a:r>
            <a:endParaRPr/>
          </a:p>
        </p:txBody>
      </p:sp>
      <p:sp>
        <p:nvSpPr>
          <p:cNvPr id="1154290935" name="TextBox 6"/>
          <p:cNvSpPr txBox="1"/>
          <p:nvPr/>
        </p:nvSpPr>
        <p:spPr bwMode="auto">
          <a:xfrm flipH="0" flipV="0">
            <a:off x="640080" y="1645920"/>
            <a:ext cx="5395679" cy="3161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14 таблиц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, нормализация до 3НФ, суррогатные ключи UUID.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Три контура: </a:t>
            </a:r>
            <a:r>
              <a:rPr sz="1500" b="1" i="0">
                <a:solidFill>
                  <a:srgbClr val="334155"/>
                </a:solidFill>
                <a:latin typeface="Segoe UI"/>
              </a:rPr>
              <a:t>файловая иерархия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(узлы/файлы/папки), </a:t>
            </a:r>
            <a:r>
              <a:rPr sz="1500" b="1" i="0">
                <a:solidFill>
                  <a:srgbClr val="334155"/>
                </a:solidFill>
                <a:latin typeface="Segoe UI"/>
              </a:rPr>
              <a:t>доступ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(права/ссылки/сессии), </a:t>
            </a:r>
            <a:r>
              <a:rPr sz="1500" b="1" i="0">
                <a:solidFill>
                  <a:srgbClr val="334155"/>
                </a:solidFill>
                <a:latin typeface="Segoe UI"/>
              </a:rPr>
              <a:t>служебный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(загрузки/задачи/квоты/аудит).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Узел file_system_nodes + спутники files / folders («один-к-одному») — общие операции единообразны.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Метаданные (PostgreSQL) и содержимое (MinIO по ключу объекта) разделены уже на концептуальном уровне.</a:t>
            </a:r>
            <a:endParaRPr/>
          </a:p>
        </p:txBody>
      </p:sp>
      <p:pic>
        <p:nvPicPr>
          <p:cNvPr id="1867283529" name="Picture 7" descr="er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35759" y="2099381"/>
            <a:ext cx="5760000" cy="2718143"/>
          </a:xfrm>
          <a:prstGeom prst="rect">
            <a:avLst/>
          </a:prstGeom>
        </p:spPr>
      </p:pic>
      <p:sp>
        <p:nvSpPr>
          <p:cNvPr id="1579908682" name="TextBox 8"/>
          <p:cNvSpPr txBox="1"/>
          <p:nvPr/>
        </p:nvSpPr>
        <p:spPr bwMode="auto">
          <a:xfrm>
            <a:off x="6263999" y="5230368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Рисунок 1.2 — Концептуальная модель данных (ER)</a:t>
            </a:r>
            <a:endParaRPr/>
          </a:p>
        </p:txBody>
      </p:sp>
      <p:pic>
        <p:nvPicPr>
          <p:cNvPr id="187894086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677036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4472587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2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Технологический стек</a:t>
            </a:r>
            <a:endParaRPr/>
          </a:p>
        </p:txBody>
      </p:sp>
      <p:sp>
        <p:nvSpPr>
          <p:cNvPr id="1719062899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563746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596138145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10</a:t>
            </a:r>
            <a:endParaRPr/>
          </a:p>
        </p:txBody>
      </p:sp>
      <p:sp>
        <p:nvSpPr>
          <p:cNvPr id="293547003" name="Rectangle 6"/>
          <p:cNvSpPr/>
          <p:nvPr/>
        </p:nvSpPr>
        <p:spPr bwMode="auto">
          <a:xfrm>
            <a:off x="640080" y="1737360"/>
            <a:ext cx="3423818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8278799" name="TextBox 7"/>
          <p:cNvSpPr txBox="1"/>
          <p:nvPr/>
        </p:nvSpPr>
        <p:spPr bwMode="auto">
          <a:xfrm>
            <a:off x="640080" y="1737360"/>
            <a:ext cx="342381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  <a:latin typeface="Segoe UI"/>
              </a:rPr>
              <a:t>Backend</a:t>
            </a:r>
            <a:endParaRPr/>
          </a:p>
        </p:txBody>
      </p:sp>
      <p:sp>
        <p:nvSpPr>
          <p:cNvPr id="1103859792" name="Rectangle 8"/>
          <p:cNvSpPr/>
          <p:nvPr/>
        </p:nvSpPr>
        <p:spPr bwMode="auto">
          <a:xfrm>
            <a:off x="640080" y="2240280"/>
            <a:ext cx="3423818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09728" rtlCol="0" anchor="ctr"/>
          <a:lstStyle/>
          <a:p>
            <a:pPr algn="l">
              <a:spcAft>
                <a:spcPts val="800"/>
              </a:spcAft>
              <a:defRPr/>
            </a:pPr>
            <a:r>
              <a:rPr sz="14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Python 3.13, FastAPI, uvicorn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SQLAlchemy 2 (async) + asyncpg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Alembic, Pydantic v2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python-jose (JWT), passlib (bcrypt/argon2)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2563EB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MinIO SDK, Pillow, PyMuPDF</a:t>
            </a:r>
            <a:endParaRPr/>
          </a:p>
        </p:txBody>
      </p:sp>
      <p:sp>
        <p:nvSpPr>
          <p:cNvPr id="1763640744" name="Rectangle 9"/>
          <p:cNvSpPr/>
          <p:nvPr/>
        </p:nvSpPr>
        <p:spPr bwMode="auto">
          <a:xfrm>
            <a:off x="4383938" y="1737360"/>
            <a:ext cx="3423818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7724147" name="TextBox 10"/>
          <p:cNvSpPr txBox="1"/>
          <p:nvPr/>
        </p:nvSpPr>
        <p:spPr bwMode="auto">
          <a:xfrm>
            <a:off x="4383938" y="1737360"/>
            <a:ext cx="342381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  <a:latin typeface="Segoe UI"/>
              </a:rPr>
              <a:t>Frontend</a:t>
            </a:r>
            <a:endParaRPr/>
          </a:p>
        </p:txBody>
      </p:sp>
      <p:sp>
        <p:nvSpPr>
          <p:cNvPr id="1360463866" name="Rectangle 11"/>
          <p:cNvSpPr/>
          <p:nvPr/>
        </p:nvSpPr>
        <p:spPr bwMode="auto">
          <a:xfrm>
            <a:off x="4383938" y="2240280"/>
            <a:ext cx="3423818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09728" rtlCol="0" anchor="ctr"/>
          <a:lstStyle/>
          <a:p>
            <a:pPr algn="l">
              <a:spcAft>
                <a:spcPts val="800"/>
              </a:spcAft>
              <a:defRPr/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React 19, TypeScript 6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Vite 8, React Router 7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TanStack Query / Virtual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Tailwind CSS 4, Radix UI / shadcn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16A34A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Axios, lucide-react, Sonner</a:t>
            </a:r>
            <a:endParaRPr/>
          </a:p>
        </p:txBody>
      </p:sp>
      <p:sp>
        <p:nvSpPr>
          <p:cNvPr id="483335810" name="Rectangle 12"/>
          <p:cNvSpPr/>
          <p:nvPr/>
        </p:nvSpPr>
        <p:spPr bwMode="auto">
          <a:xfrm>
            <a:off x="8127796" y="1737360"/>
            <a:ext cx="3423818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782834" name="TextBox 13"/>
          <p:cNvSpPr txBox="1"/>
          <p:nvPr/>
        </p:nvSpPr>
        <p:spPr bwMode="auto">
          <a:xfrm>
            <a:off x="8127796" y="1737360"/>
            <a:ext cx="3423818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1600" b="1" i="0">
                <a:solidFill>
                  <a:srgbClr val="FFFFFF"/>
                </a:solidFill>
                <a:latin typeface="Segoe UI"/>
              </a:rPr>
              <a:t>Хранилище / Инфра</a:t>
            </a:r>
            <a:endParaRPr/>
          </a:p>
        </p:txBody>
      </p:sp>
      <p:sp>
        <p:nvSpPr>
          <p:cNvPr id="535667388" name="Rectangle 14"/>
          <p:cNvSpPr/>
          <p:nvPr/>
        </p:nvSpPr>
        <p:spPr bwMode="auto">
          <a:xfrm>
            <a:off x="8127796" y="2240280"/>
            <a:ext cx="3423818" cy="3703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09728" rtlCol="0" anchor="ctr"/>
          <a:lstStyle/>
          <a:p>
            <a:pPr algn="l">
              <a:spcAft>
                <a:spcPts val="800"/>
              </a:spcAft>
              <a:defRPr/>
            </a:pPr>
            <a:r>
              <a:rPr sz="1400" b="1" i="0">
                <a:solidFill>
                  <a:srgbClr val="EA580C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PostgreSQL 16 (метаданные)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EA580C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MinIO (S3-совместимое)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EA580C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Docker Compose (6 сервисов)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EA580C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nginx (шлюз + SPA)</a:t>
            </a:r>
            <a:endParaRPr/>
          </a:p>
          <a:p>
            <a:pPr>
              <a:spcAft>
                <a:spcPts val="800"/>
              </a:spcAft>
              <a:defRPr/>
            </a:pPr>
            <a:r>
              <a:rPr sz="1400" b="1" i="0">
                <a:solidFill>
                  <a:srgbClr val="EA580C"/>
                </a:solidFill>
                <a:latin typeface="Segoe UI"/>
              </a:rPr>
              <a:t>• </a:t>
            </a:r>
            <a:r>
              <a:rPr sz="1400" b="0" i="0">
                <a:solidFill>
                  <a:srgbClr val="334155"/>
                </a:solidFill>
                <a:latin typeface="Segoe UI"/>
              </a:rPr>
              <a:t>uv, pytest, Vitest, ESLint, ruff</a:t>
            </a:r>
            <a:endParaRPr/>
          </a:p>
        </p:txBody>
      </p:sp>
      <p:pic>
        <p:nvPicPr>
          <p:cNvPr id="2764422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543152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4761557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3 · КОНСТРУИРОВАНИЕ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Структура проекта (монорепозиторий)</a:t>
            </a:r>
            <a:endParaRPr/>
          </a:p>
        </p:txBody>
      </p:sp>
      <p:sp>
        <p:nvSpPr>
          <p:cNvPr id="1578024754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5476507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797846834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11</a:t>
            </a:r>
            <a:endParaRPr/>
          </a:p>
        </p:txBody>
      </p:sp>
      <p:sp>
        <p:nvSpPr>
          <p:cNvPr id="685665347" name="Rectangle 6"/>
          <p:cNvSpPr/>
          <p:nvPr/>
        </p:nvSpPr>
        <p:spPr bwMode="auto">
          <a:xfrm flipH="0" flipV="0">
            <a:off x="640080" y="1691640"/>
            <a:ext cx="5394959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LocalCloud/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├─ backend/        FastAPI API + фоновый worker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├─ api/        роутеры /api/v1 (15 групп)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├─ services/   доменные сервисы (16)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├─ database/   модели, репозитории (14), UoW, миграции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├─ storage/    фасад MinIO (presigned, multipart)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├─ workers/    диспетчер, реестр, планировщик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└─ tests/      unit + integration (pytest)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├─ frontend/       SPA на React + Vite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├─ src/        api, components, hooks, pages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│   └─ tests/      Vitest + Testing Library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├─ nginx/          шлюз / reverse-proxy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├─ scripts/        генератор .env под ресурсы хоста</a:t>
            </a:r>
            <a:endParaRPr/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└─ docker-compose.yml   весь стек (6 сервисов)</a:t>
            </a:r>
            <a:endParaRPr/>
          </a:p>
        </p:txBody>
      </p:sp>
      <p:pic>
        <p:nvPicPr>
          <p:cNvPr id="1284018067" name="Picture 8" descr="pack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64649" y="1691640"/>
            <a:ext cx="5186963" cy="4215925"/>
          </a:xfrm>
          <a:prstGeom prst="rect">
            <a:avLst/>
          </a:prstGeom>
        </p:spPr>
      </p:pic>
      <p:sp>
        <p:nvSpPr>
          <p:cNvPr id="399000395" name="TextBox 9"/>
          <p:cNvSpPr txBox="1"/>
          <p:nvPr/>
        </p:nvSpPr>
        <p:spPr bwMode="auto">
          <a:xfrm>
            <a:off x="6717851" y="6080760"/>
            <a:ext cx="44805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Рисунок 3.3 — Диаграмма пакетов</a:t>
            </a:r>
            <a:endParaRPr/>
          </a:p>
        </p:txBody>
      </p:sp>
      <p:pic>
        <p:nvPicPr>
          <p:cNvPr id="4373354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691479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36451276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3 · РАЗДЕЛ 5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Прошедшие проектные этапы и процесс</a:t>
            </a:r>
            <a:endParaRPr/>
          </a:p>
        </p:txBody>
      </p:sp>
      <p:sp>
        <p:nvSpPr>
          <p:cNvPr id="1286491261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023444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099110561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12</a:t>
            </a:r>
            <a:endParaRPr/>
          </a:p>
        </p:txBody>
      </p:sp>
      <p:sp>
        <p:nvSpPr>
          <p:cNvPr id="1625571060" name="TextBox 6"/>
          <p:cNvSpPr txBox="1"/>
          <p:nvPr/>
        </p:nvSpPr>
        <p:spPr bwMode="auto">
          <a:xfrm flipH="0" flipV="0">
            <a:off x="640080" y="1645920"/>
            <a:ext cx="5395679" cy="25134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1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Жизненный цикл — 5 этапов: анализ и проектирование, кодирование, тестирование, документация, развёртывание.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Git Flow: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main / develop, ветки feature/* · release/* · hotfix/*; свыше 80 коммитов.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Conventional Commits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+ </a:t>
            </a:r>
            <a:r>
              <a:rPr sz="1500" b="1" i="0">
                <a:solidFill>
                  <a:srgbClr val="334155"/>
                </a:solidFill>
                <a:latin typeface="Segoe UI"/>
              </a:rPr>
              <a:t>SemVer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 (теги v0.1.0-beta.1, v0.1.0, v0.1.1); CHANGELOG.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Оценка трудоёмкости методом </a:t>
            </a:r>
            <a:r>
              <a:rPr sz="1500" b="1" i="0">
                <a:solidFill>
                  <a:srgbClr val="334155"/>
                </a:solidFill>
                <a:latin typeface="Segoe UI"/>
              </a:rPr>
              <a:t>PERT</a:t>
            </a:r>
            <a:r>
              <a:rPr sz="1500" b="0" i="0">
                <a:solidFill>
                  <a:srgbClr val="334155"/>
                </a:solidFill>
                <a:latin typeface="Segoe UI"/>
              </a:rPr>
              <a:t>; план — диаграмма Ганта.</a:t>
            </a:r>
            <a:endParaRPr/>
          </a:p>
        </p:txBody>
      </p:sp>
      <p:sp>
        <p:nvSpPr>
          <p:cNvPr id="1024491310" name="TextBox 8"/>
          <p:cNvSpPr txBox="1"/>
          <p:nvPr/>
        </p:nvSpPr>
        <p:spPr bwMode="auto">
          <a:xfrm>
            <a:off x="6196402" y="6240780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Рисунок 5.1 — Календарный план (Ганта)</a:t>
            </a:r>
            <a:endParaRPr/>
          </a:p>
        </p:txBody>
      </p:sp>
      <p:pic>
        <p:nvPicPr>
          <p:cNvPr id="17493534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  <p:pic>
        <p:nvPicPr>
          <p:cNvPr id="15247369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5772149" y="1335024"/>
            <a:ext cx="5596584" cy="4905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14755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4138744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3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Реализация · ключевые моменты</a:t>
            </a:r>
            <a:endParaRPr/>
          </a:p>
        </p:txBody>
      </p:sp>
      <p:sp>
        <p:nvSpPr>
          <p:cNvPr id="1164214114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74119715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796175190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13</a:t>
            </a:r>
            <a:endParaRPr/>
          </a:p>
        </p:txBody>
      </p:sp>
      <p:sp>
        <p:nvSpPr>
          <p:cNvPr id="992403765" name="TextBox 6"/>
          <p:cNvSpPr txBox="1"/>
          <p:nvPr/>
        </p:nvSpPr>
        <p:spPr bwMode="auto">
          <a:xfrm>
            <a:off x="640080" y="1691640"/>
            <a:ext cx="10913334" cy="29579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Загрузка мимо backend: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клиент пишет части напрямую в MinIO по presigned-URL (часть 8 МБ), сервер лишь координирует сессию и подписывает ссылки → память сервера не зависит от размера файла.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Наследование прав: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право на папку распространяется на поддерево; обход предков одним рекурсивным CTE вместо N+1 запросов.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Фоновый worker: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очередь задач в PostgreSQL, конкурентный захват через SELECT FOR UPDATE SKIP LOCKED, повторы с экспоненциальной задержкой, планировщик периодических задач.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Тихое продление сессии: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перехватчик axios обновляет токены при 401, остальные запросы ждут в очереди — без гонок.</a:t>
            </a:r>
            <a:endParaRPr/>
          </a:p>
          <a:p>
            <a:pPr>
              <a:spcAft>
                <a:spcPts val="11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1" i="0">
                <a:solidFill>
                  <a:srgbClr val="0F172A"/>
                </a:solidFill>
                <a:latin typeface="Segoe UI"/>
              </a:rPr>
              <a:t>Превью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изображений/PDF/видео и </a:t>
            </a:r>
            <a:r>
              <a:rPr sz="1550" b="1" i="0">
                <a:solidFill>
                  <a:srgbClr val="334155"/>
                </a:solidFill>
                <a:latin typeface="Segoe UI"/>
              </a:rPr>
              <a:t>упаковка ZIP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— потоково, без буферизации целиком в памяти.</a:t>
            </a:r>
            <a:endParaRPr/>
          </a:p>
        </p:txBody>
      </p:sp>
      <p:pic>
        <p:nvPicPr>
          <p:cNvPr id="10665459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422049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794550" name="TextBox 2"/>
          <p:cNvSpPr txBox="1"/>
          <p:nvPr/>
        </p:nvSpPr>
        <p:spPr bwMode="auto">
          <a:xfrm>
            <a:off x="566927" y="312419"/>
            <a:ext cx="11094774" cy="1012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3 · РЕАЛИЗАЦИЯ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Пример запроса · наследование прав </a:t>
            </a:r>
            <a:br>
              <a:rPr sz="2600" b="1" i="0">
                <a:solidFill>
                  <a:srgbClr val="0F172A"/>
                </a:solidFill>
                <a:latin typeface="Segoe UI"/>
              </a:rPr>
            </a:br>
            <a:r>
              <a:rPr sz="2600" b="1" i="0">
                <a:solidFill>
                  <a:srgbClr val="0F172A"/>
                </a:solidFill>
                <a:latin typeface="Segoe UI"/>
              </a:rPr>
              <a:t>(рекурсивный CTE)</a:t>
            </a:r>
            <a:endParaRPr/>
          </a:p>
        </p:txBody>
      </p:sp>
      <p:sp>
        <p:nvSpPr>
          <p:cNvPr id="812085456" name="Rectangle 3"/>
          <p:cNvSpPr/>
          <p:nvPr/>
        </p:nvSpPr>
        <p:spPr bwMode="auto">
          <a:xfrm>
            <a:off x="566928" y="1439798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2734906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762847812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14</a:t>
            </a:r>
            <a:endParaRPr/>
          </a:p>
        </p:txBody>
      </p:sp>
      <p:sp>
        <p:nvSpPr>
          <p:cNvPr id="2019859711" name="TextBox 6"/>
          <p:cNvSpPr txBox="1"/>
          <p:nvPr/>
        </p:nvSpPr>
        <p:spPr bwMode="auto">
          <a:xfrm>
            <a:off x="548640" y="164592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300" b="1" i="0">
                <a:solidFill>
                  <a:srgbClr val="2563EB"/>
                </a:solidFill>
                <a:latin typeface="Segoe UI"/>
              </a:rPr>
              <a:t>SQL-запрос (PostgreSQL)</a:t>
            </a:r>
            <a:endParaRPr/>
          </a:p>
        </p:txBody>
      </p:sp>
      <p:sp>
        <p:nvSpPr>
          <p:cNvPr id="645323239" name="Rectangle 7"/>
          <p:cNvSpPr/>
          <p:nvPr/>
        </p:nvSpPr>
        <p:spPr bwMode="auto">
          <a:xfrm>
            <a:off x="548640" y="1956816"/>
            <a:ext cx="5623560" cy="3986784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73152" rtlCol="0" anchor="ctr"/>
          <a:lstStyle/>
          <a:p>
            <a:pPr marL="0" marR="0" lvl="0" indent="0"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WITH RECURSIVE permission_ancestors AS 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</a:t>
            </a:r>
            <a:r>
              <a:rPr lang="ru-RU" sz="1050" b="0" i="0">
                <a:solidFill>
                  <a:srgbClr val="E2E8F0"/>
                </a:solidFill>
                <a:latin typeface="Consolas"/>
              </a:rPr>
              <a:t> </a:t>
            </a:r>
            <a:r>
              <a:rPr sz="1050" b="0" i="0">
                <a:solidFill>
                  <a:srgbClr val="E2E8F0"/>
                </a:solidFill>
                <a:latin typeface="Consolas"/>
              </a:rPr>
              <a:t>SELECT id, parent_id FROM file_system_nodes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WHERE id = :node_id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UNION ALL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SELECT n.id, n.parent_id FROM file_system_nodes n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JOIN permission_ancestors a ON n.id = a.parent_id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WHERE n.is_deleted = false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SELECT * FROM node_permissions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WHERE node_id IN (SELECT id FROM permission_ancestors)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AND user_id = :user_id AND &lt;активно&gt;;</a:t>
            </a:r>
            <a:endParaRPr/>
          </a:p>
        </p:txBody>
      </p:sp>
      <p:sp>
        <p:nvSpPr>
          <p:cNvPr id="880005468" name="TextBox 8"/>
          <p:cNvSpPr txBox="1"/>
          <p:nvPr/>
        </p:nvSpPr>
        <p:spPr bwMode="auto">
          <a:xfrm>
            <a:off x="6355080" y="1645920"/>
            <a:ext cx="528523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300" b="1" i="0">
                <a:solidFill>
                  <a:srgbClr val="16A34A"/>
                </a:solidFill>
                <a:latin typeface="Segoe UI"/>
              </a:rPr>
              <a:t>Код (SQLAlchemy 2, async)</a:t>
            </a:r>
            <a:endParaRPr/>
          </a:p>
        </p:txBody>
      </p:sp>
      <p:sp>
        <p:nvSpPr>
          <p:cNvPr id="1774230620" name="Rectangle 9"/>
          <p:cNvSpPr/>
          <p:nvPr/>
        </p:nvSpPr>
        <p:spPr bwMode="auto">
          <a:xfrm>
            <a:off x="6355080" y="1956816"/>
            <a:ext cx="5285232" cy="3986784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ancestors = 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select(Node.id, Node.parent_id)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.where(Node.id == node_id)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.cte('permission_ancestors', recursive=True))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parent = aliased(Node)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ancestors = ancestors.union_all(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select(parent.id, parent.parent_id).where(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    parent.id == ancestors.c.parent_id,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    parent.is_deleted.is_(False)))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stmt = select(NodePermission).where(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NodePermission.node_id.in_(select(ancestors.c.id)),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NodePermission.user_id == user_id, *active)</a:t>
            </a:r>
            <a:endParaRPr/>
          </a:p>
        </p:txBody>
      </p:sp>
      <p:sp>
        <p:nvSpPr>
          <p:cNvPr id="1641624599" name="TextBox 10"/>
          <p:cNvSpPr txBox="1"/>
          <p:nvPr/>
        </p:nvSpPr>
        <p:spPr bwMode="auto"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300" b="0" i="1">
                <a:solidFill>
                  <a:srgbClr val="64748B"/>
                </a:solidFill>
                <a:latin typeface="Segoe UI"/>
              </a:rPr>
              <a:t>Эффективные права с учётом наследования — за один запрос (устранён антипаттерн N+1).</a:t>
            </a:r>
            <a:endParaRPr/>
          </a:p>
        </p:txBody>
      </p:sp>
      <p:pic>
        <p:nvPicPr>
          <p:cNvPr id="11766206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579832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17769960" name="TextBox 2"/>
          <p:cNvSpPr txBox="1"/>
          <p:nvPr/>
        </p:nvSpPr>
        <p:spPr bwMode="auto">
          <a:xfrm>
            <a:off x="548640" y="312599"/>
            <a:ext cx="11095134" cy="10122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3 · РЕАЛИЗАЦИЯ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Пример запроса · захват задач очереди</a:t>
            </a:r>
            <a:br>
              <a:rPr sz="2600" b="1" i="0">
                <a:solidFill>
                  <a:srgbClr val="0F172A"/>
                </a:solidFill>
                <a:latin typeface="Segoe UI"/>
              </a:rPr>
            </a:br>
            <a:r>
              <a:rPr sz="2600" b="1" i="0">
                <a:solidFill>
                  <a:srgbClr val="0F172A"/>
                </a:solidFill>
                <a:latin typeface="Segoe UI"/>
              </a:rPr>
              <a:t>(SKIP LOCKED)</a:t>
            </a:r>
            <a:endParaRPr/>
          </a:p>
        </p:txBody>
      </p:sp>
      <p:sp>
        <p:nvSpPr>
          <p:cNvPr id="2113436009" name="Rectangle 3"/>
          <p:cNvSpPr/>
          <p:nvPr/>
        </p:nvSpPr>
        <p:spPr bwMode="auto">
          <a:xfrm>
            <a:off x="566928" y="138074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566146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607571987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15</a:t>
            </a:r>
            <a:endParaRPr/>
          </a:p>
        </p:txBody>
      </p:sp>
      <p:sp>
        <p:nvSpPr>
          <p:cNvPr id="1989734886" name="TextBox 6"/>
          <p:cNvSpPr txBox="1"/>
          <p:nvPr/>
        </p:nvSpPr>
        <p:spPr bwMode="auto">
          <a:xfrm>
            <a:off x="548640" y="1645920"/>
            <a:ext cx="5623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300" b="1" i="0">
                <a:solidFill>
                  <a:srgbClr val="2563EB"/>
                </a:solidFill>
                <a:latin typeface="Segoe UI"/>
              </a:rPr>
              <a:t>SQL-запрос (PostgreSQL)</a:t>
            </a:r>
            <a:endParaRPr/>
          </a:p>
        </p:txBody>
      </p:sp>
      <p:sp>
        <p:nvSpPr>
          <p:cNvPr id="466927405" name="Rectangle 7"/>
          <p:cNvSpPr/>
          <p:nvPr/>
        </p:nvSpPr>
        <p:spPr bwMode="auto">
          <a:xfrm>
            <a:off x="548640" y="1956816"/>
            <a:ext cx="5623560" cy="3986784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SELECT * FROM background_tasks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WHERE status = 'PENDING'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AND (scheduled_at IS NULL OR scheduled_at &lt;= now())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AND (locked_until IS NULL OR locked_until &lt; now())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ORDER BY priority, scheduled_at, created_at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LIMIT :batch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FOR UPDATE SKIP LOCKED;</a:t>
            </a:r>
            <a:endParaRPr/>
          </a:p>
        </p:txBody>
      </p:sp>
      <p:sp>
        <p:nvSpPr>
          <p:cNvPr id="682074538" name="TextBox 8"/>
          <p:cNvSpPr txBox="1"/>
          <p:nvPr/>
        </p:nvSpPr>
        <p:spPr bwMode="auto">
          <a:xfrm>
            <a:off x="6355080" y="1645920"/>
            <a:ext cx="5285232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300" b="1" i="0">
                <a:solidFill>
                  <a:srgbClr val="16A34A"/>
                </a:solidFill>
                <a:latin typeface="Segoe UI"/>
              </a:rPr>
              <a:t>Код (SQLAlchemy 2, async)</a:t>
            </a:r>
            <a:endParaRPr/>
          </a:p>
        </p:txBody>
      </p:sp>
      <p:sp>
        <p:nvSpPr>
          <p:cNvPr id="1507130943" name="Rectangle 9"/>
          <p:cNvSpPr/>
          <p:nvPr/>
        </p:nvSpPr>
        <p:spPr bwMode="auto">
          <a:xfrm>
            <a:off x="6355080" y="1956816"/>
            <a:ext cx="5285232" cy="3986784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73152" rtlCol="0" anchor="ctr"/>
          <a:lstStyle/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stmt = 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select(BackgroundTask)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.where(*conditions)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.order_by(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    priority_rank.asc(),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    BackgroundTask.scheduled_at.asc().nullsfirst(),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    BackgroundTask.created_at.asc())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.limit(limit)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.with_for_update(skip_locked=True))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tasks = await self.scalars_all(</a:t>
            </a:r>
            <a:endParaRPr/>
          </a:p>
          <a:p>
            <a:pPr algn="l">
              <a:lnSpc>
                <a:spcPct val="100000"/>
              </a:lnSpc>
              <a:spcAft>
                <a:spcPts val="0"/>
              </a:spcAft>
              <a:defRPr/>
            </a:pPr>
            <a:r>
              <a:rPr sz="1050" b="0" i="0">
                <a:solidFill>
                  <a:srgbClr val="E2E8F0"/>
                </a:solidFill>
                <a:latin typeface="Consolas"/>
              </a:rPr>
              <a:t>    stmt, operation='lock_due_tasks')</a:t>
            </a:r>
            <a:endParaRPr/>
          </a:p>
        </p:txBody>
      </p:sp>
      <p:sp>
        <p:nvSpPr>
          <p:cNvPr id="1777873829" name="TextBox 10"/>
          <p:cNvSpPr txBox="1"/>
          <p:nvPr/>
        </p:nvSpPr>
        <p:spPr bwMode="auto"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300" b="0" i="1">
                <a:solidFill>
                  <a:srgbClr val="64748B"/>
                </a:solidFill>
                <a:latin typeface="Segoe UI"/>
              </a:rPr>
              <a:t>Несколько воркеров конкурентно берут задачи без распределённого координатора и брокера.</a:t>
            </a:r>
            <a:endParaRPr/>
          </a:p>
        </p:txBody>
      </p:sp>
      <p:pic>
        <p:nvPicPr>
          <p:cNvPr id="4033585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803067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3881056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3 · КЛИЕНТСКАЯ ЧАСТЬ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Пользовательский интерфейс</a:t>
            </a:r>
            <a:endParaRPr/>
          </a:p>
        </p:txBody>
      </p:sp>
      <p:sp>
        <p:nvSpPr>
          <p:cNvPr id="1091451544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6315175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580504337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16</a:t>
            </a:r>
            <a:endParaRPr/>
          </a:p>
        </p:txBody>
      </p:sp>
      <p:sp>
        <p:nvSpPr>
          <p:cNvPr id="840036030" name="TextBox 7"/>
          <p:cNvSpPr txBox="1"/>
          <p:nvPr/>
        </p:nvSpPr>
        <p:spPr bwMode="auto">
          <a:xfrm flipH="0" flipV="0">
            <a:off x="548639" y="5024625"/>
            <a:ext cx="5533559" cy="204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Файловый браузер</a:t>
            </a:r>
            <a:endParaRPr/>
          </a:p>
        </p:txBody>
      </p:sp>
      <p:sp>
        <p:nvSpPr>
          <p:cNvPr id="2139208579" name="TextBox 11"/>
          <p:cNvSpPr txBox="1"/>
          <p:nvPr/>
        </p:nvSpPr>
        <p:spPr bwMode="auto">
          <a:xfrm flipH="0" flipV="0">
            <a:off x="6105219" y="5024625"/>
            <a:ext cx="5578559" cy="204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/>
            </a:pPr>
            <a:r>
              <a:rPr sz="1100" b="0" i="1">
                <a:solidFill>
                  <a:srgbClr val="64748B"/>
                </a:solidFill>
                <a:latin typeface="Segoe UI"/>
              </a:rPr>
              <a:t>Админ-панель</a:t>
            </a:r>
            <a:endParaRPr/>
          </a:p>
        </p:txBody>
      </p:sp>
      <p:pic>
        <p:nvPicPr>
          <p:cNvPr id="15652163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  <p:pic>
        <p:nvPicPr>
          <p:cNvPr id="123784947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66928" y="1651086"/>
            <a:ext cx="5544306" cy="3268989"/>
          </a:xfrm>
          <a:prstGeom prst="rect">
            <a:avLst/>
          </a:prstGeom>
        </p:spPr>
      </p:pic>
      <p:pic>
        <p:nvPicPr>
          <p:cNvPr id="95201816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111234" y="1651086"/>
            <a:ext cx="5544306" cy="32689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508632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94795526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4 · КАЧЕСТВО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Тестирование и покрытие</a:t>
            </a:r>
            <a:endParaRPr/>
          </a:p>
        </p:txBody>
      </p:sp>
      <p:sp>
        <p:nvSpPr>
          <p:cNvPr id="1078775378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3011217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885703581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17</a:t>
            </a:r>
            <a:endParaRPr/>
          </a:p>
        </p:txBody>
      </p:sp>
      <p:sp>
        <p:nvSpPr>
          <p:cNvPr id="1974099635" name="Rectangle 6"/>
          <p:cNvSpPr/>
          <p:nvPr/>
        </p:nvSpPr>
        <p:spPr bwMode="auto">
          <a:xfrm>
            <a:off x="640080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6603592" name="TextBox 7"/>
          <p:cNvSpPr txBox="1"/>
          <p:nvPr/>
        </p:nvSpPr>
        <p:spPr bwMode="auto">
          <a:xfrm>
            <a:off x="731519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2563EB"/>
                </a:solidFill>
                <a:latin typeface="Segoe UI"/>
              </a:rPr>
              <a:t>7679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автотестов — все пройдены</a:t>
            </a:r>
            <a:endParaRPr/>
          </a:p>
        </p:txBody>
      </p:sp>
      <p:sp>
        <p:nvSpPr>
          <p:cNvPr id="650828331" name="Rectangle 8"/>
          <p:cNvSpPr/>
          <p:nvPr/>
        </p:nvSpPr>
        <p:spPr bwMode="auto">
          <a:xfrm>
            <a:off x="3436543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074893" name="TextBox 9"/>
          <p:cNvSpPr txBox="1"/>
          <p:nvPr/>
        </p:nvSpPr>
        <p:spPr bwMode="auto">
          <a:xfrm>
            <a:off x="3527983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16A34A"/>
                </a:solidFill>
                <a:latin typeface="Segoe UI"/>
              </a:rPr>
              <a:t>6745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backend (6559 unit + 186 integ.)</a:t>
            </a:r>
            <a:endParaRPr/>
          </a:p>
        </p:txBody>
      </p:sp>
      <p:sp>
        <p:nvSpPr>
          <p:cNvPr id="1801122727" name="Rectangle 10"/>
          <p:cNvSpPr/>
          <p:nvPr/>
        </p:nvSpPr>
        <p:spPr bwMode="auto">
          <a:xfrm>
            <a:off x="6233007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1617515" name="TextBox 11"/>
          <p:cNvSpPr txBox="1"/>
          <p:nvPr/>
        </p:nvSpPr>
        <p:spPr bwMode="auto">
          <a:xfrm>
            <a:off x="6324447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EA580C"/>
                </a:solidFill>
                <a:latin typeface="Segoe UI"/>
              </a:rPr>
              <a:t>934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frontend (Vitest)</a:t>
            </a:r>
            <a:endParaRPr/>
          </a:p>
        </p:txBody>
      </p:sp>
      <p:sp>
        <p:nvSpPr>
          <p:cNvPr id="2064485973" name="Rectangle 12"/>
          <p:cNvSpPr/>
          <p:nvPr/>
        </p:nvSpPr>
        <p:spPr bwMode="auto">
          <a:xfrm>
            <a:off x="9029471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77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9150235" name="TextBox 13"/>
          <p:cNvSpPr txBox="1"/>
          <p:nvPr/>
        </p:nvSpPr>
        <p:spPr bwMode="auto">
          <a:xfrm>
            <a:off x="9120911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7733EA"/>
                </a:solidFill>
                <a:latin typeface="Segoe UI"/>
              </a:rPr>
              <a:t>98,6%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покрытие backend</a:t>
            </a:r>
            <a:endParaRPr/>
          </a:p>
        </p:txBody>
      </p:sp>
      <p:sp>
        <p:nvSpPr>
          <p:cNvPr id="1331730476" name="TextBox 14"/>
          <p:cNvSpPr txBox="1"/>
          <p:nvPr/>
        </p:nvSpPr>
        <p:spPr bwMode="auto">
          <a:xfrm>
            <a:off x="640080" y="3703320"/>
            <a:ext cx="10915134" cy="20714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Три уровня: модульное, интеграционное (REST API через TestClient), системное; среда без внешних сервисов.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Покрытие: backend </a:t>
            </a:r>
            <a:r>
              <a:rPr sz="1550" b="1" i="0">
                <a:solidFill>
                  <a:srgbClr val="334155"/>
                </a:solidFill>
                <a:latin typeface="Segoe UI"/>
              </a:rPr>
              <a:t>98,6 %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операторов, frontend </a:t>
            </a:r>
            <a:r>
              <a:rPr sz="1550" b="1" i="0">
                <a:solidFill>
                  <a:srgbClr val="334155"/>
                </a:solidFill>
                <a:latin typeface="Segoe UI"/>
              </a:rPr>
              <a:t>90,2 %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(пороги 85/80 % закреплены в конфигурации).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Нагрузочное тестирование: p99 задержки ≤ 177 мс при требовании 2 с; управляемое поведение при перегрузке.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Тестирование безопасности: JWT, права, защита от перебора, гигиена секретов.</a:t>
            </a:r>
            <a:endParaRPr/>
          </a:p>
        </p:txBody>
      </p:sp>
      <p:pic>
        <p:nvPicPr>
          <p:cNvPr id="326161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335669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55763638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5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Технико-экономическое обоснование</a:t>
            </a:r>
            <a:endParaRPr/>
          </a:p>
        </p:txBody>
      </p:sp>
      <p:sp>
        <p:nvSpPr>
          <p:cNvPr id="683237187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5754348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2014946379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18</a:t>
            </a:r>
            <a:endParaRPr/>
          </a:p>
        </p:txBody>
      </p:sp>
      <p:sp>
        <p:nvSpPr>
          <p:cNvPr id="810858003" name="Rectangle 6"/>
          <p:cNvSpPr/>
          <p:nvPr/>
        </p:nvSpPr>
        <p:spPr bwMode="auto">
          <a:xfrm>
            <a:off x="640080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2213625" name="TextBox 7"/>
          <p:cNvSpPr txBox="1"/>
          <p:nvPr/>
        </p:nvSpPr>
        <p:spPr bwMode="auto">
          <a:xfrm>
            <a:off x="731519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2563EB"/>
                </a:solidFill>
                <a:latin typeface="Segoe UI"/>
              </a:rPr>
              <a:t>802 141 ₽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себестоимость разработки</a:t>
            </a:r>
            <a:endParaRPr/>
          </a:p>
        </p:txBody>
      </p:sp>
      <p:sp>
        <p:nvSpPr>
          <p:cNvPr id="815952684" name="Rectangle 8"/>
          <p:cNvSpPr/>
          <p:nvPr/>
        </p:nvSpPr>
        <p:spPr bwMode="auto">
          <a:xfrm>
            <a:off x="3436543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6791470" name="TextBox 9"/>
          <p:cNvSpPr txBox="1"/>
          <p:nvPr/>
        </p:nvSpPr>
        <p:spPr bwMode="auto">
          <a:xfrm>
            <a:off x="3527983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16A34A"/>
                </a:solidFill>
                <a:latin typeface="Segoe UI"/>
              </a:rPr>
              <a:t>38 400 ₽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экономия владельца в год</a:t>
            </a:r>
            <a:endParaRPr/>
          </a:p>
        </p:txBody>
      </p:sp>
      <p:sp>
        <p:nvSpPr>
          <p:cNvPr id="1703935789" name="Rectangle 10"/>
          <p:cNvSpPr/>
          <p:nvPr/>
        </p:nvSpPr>
        <p:spPr bwMode="auto">
          <a:xfrm>
            <a:off x="6233007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4358321" name="TextBox 11"/>
          <p:cNvSpPr txBox="1"/>
          <p:nvPr/>
        </p:nvSpPr>
        <p:spPr bwMode="auto">
          <a:xfrm>
            <a:off x="6324447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EA580C"/>
                </a:solidFill>
                <a:latin typeface="Segoe UI"/>
              </a:rPr>
              <a:t>1,6 года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срок окупаемости</a:t>
            </a:r>
            <a:endParaRPr/>
          </a:p>
        </p:txBody>
      </p:sp>
      <p:sp>
        <p:nvSpPr>
          <p:cNvPr id="656478784" name="Rectangle 12"/>
          <p:cNvSpPr/>
          <p:nvPr/>
        </p:nvSpPr>
        <p:spPr bwMode="auto">
          <a:xfrm>
            <a:off x="9029471" y="1783080"/>
            <a:ext cx="2522143" cy="1554480"/>
          </a:xfrm>
          <a:prstGeom prst="rect">
            <a:avLst/>
          </a:prstGeom>
          <a:solidFill>
            <a:srgbClr val="F1F5F9"/>
          </a:solidFill>
          <a:ln w="19050">
            <a:solidFill>
              <a:srgbClr val="77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4670728" name="TextBox 13"/>
          <p:cNvSpPr txBox="1"/>
          <p:nvPr/>
        </p:nvSpPr>
        <p:spPr bwMode="auto">
          <a:xfrm>
            <a:off x="9120911" y="1947671"/>
            <a:ext cx="2339263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7733EA"/>
                </a:solidFill>
                <a:latin typeface="Segoe UI"/>
              </a:rPr>
              <a:t>8,25</a:t>
            </a:r>
            <a:endParaRPr/>
          </a:p>
          <a:p>
            <a:pPr algn="ctr">
              <a:defRPr/>
            </a:pPr>
            <a:r>
              <a:rPr sz="1300" b="0" i="0">
                <a:solidFill>
                  <a:srgbClr val="334155"/>
                </a:solidFill>
                <a:latin typeface="Segoe UI"/>
              </a:rPr>
              <a:t>индекс доходности</a:t>
            </a:r>
            <a:endParaRPr/>
          </a:p>
        </p:txBody>
      </p:sp>
      <p:sp>
        <p:nvSpPr>
          <p:cNvPr id="914001139" name="TextBox 14"/>
          <p:cNvSpPr txBox="1"/>
          <p:nvPr/>
        </p:nvSpPr>
        <p:spPr bwMode="auto">
          <a:xfrm>
            <a:off x="640080" y="3703320"/>
            <a:ext cx="10918734" cy="18352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Трудоёмкость оценена методом </a:t>
            </a:r>
            <a:r>
              <a:rPr sz="1550" b="1" i="0">
                <a:solidFill>
                  <a:srgbClr val="334155"/>
                </a:solidFill>
                <a:latin typeface="Segoe UI"/>
              </a:rPr>
              <a:t>PERT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(5 этапов); объём кода ≈ 126 тыс. строк без тестов.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Полная себестоимость — </a:t>
            </a:r>
            <a:r>
              <a:rPr sz="1550" b="1" i="0">
                <a:solidFill>
                  <a:srgbClr val="334155"/>
                </a:solidFill>
                <a:latin typeface="Segoe UI"/>
              </a:rPr>
              <a:t>802 141 ₽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, договорная цена с НДС — </a:t>
            </a:r>
            <a:r>
              <a:rPr sz="1550" b="1" i="0">
                <a:solidFill>
                  <a:srgbClr val="334155"/>
                </a:solidFill>
                <a:latin typeface="Segoe UI"/>
              </a:rPr>
              <a:t>1 203 211 ₽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Продукт тиражируемый: чистый дисконтированный доход за 5 лет — </a:t>
            </a:r>
            <a:r>
              <a:rPr sz="1550" b="1" i="0">
                <a:solidFill>
                  <a:srgbClr val="334155"/>
                </a:solidFill>
                <a:latin typeface="Segoe UI"/>
              </a:rPr>
              <a:t>5,82 млн ₽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 (консервативный прогноз).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5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550" b="0" i="0">
                <a:solidFill>
                  <a:srgbClr val="334155"/>
                </a:solidFill>
                <a:latin typeface="Segoe UI"/>
              </a:rPr>
              <a:t>Качественные эффекты: приватность, контроль над данными, независимость от провайдера, вклад в open source.</a:t>
            </a:r>
            <a:endParaRPr/>
          </a:p>
        </p:txBody>
      </p:sp>
      <p:pic>
        <p:nvPicPr>
          <p:cNvPr id="12924667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139366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700740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РАЗДЕЛ 6 · БЖД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Безопасность и охрана труда</a:t>
            </a:r>
            <a:endParaRPr/>
          </a:p>
        </p:txBody>
      </p:sp>
      <p:sp>
        <p:nvSpPr>
          <p:cNvPr id="1132493131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5087933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17064308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19</a:t>
            </a:r>
            <a:endParaRPr/>
          </a:p>
        </p:txBody>
      </p:sp>
      <p:sp>
        <p:nvSpPr>
          <p:cNvPr id="138647322" name="TextBox 6"/>
          <p:cNvSpPr txBox="1"/>
          <p:nvPr/>
        </p:nvSpPr>
        <p:spPr bwMode="auto">
          <a:xfrm>
            <a:off x="640080" y="1691640"/>
            <a:ext cx="10911535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Рабочее место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по ГОСТ 12.2.032-78: площадь ≥ 4,5 м², объём ≥ 15 м³, высота стола 725 мм, регулируемое кресло.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Микроклимат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для категории работ Iа по СанПиН 1.2.3685-21 (температура, влажность, скорость воздуха).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Освещение: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совмещённое естественное и искусственное, нормированная освещённость рабочей зоны.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Электробезопасность: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помещение без повышенной опасности (ПУЭ).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Пожарная безопасность: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категория В4, класс пожара E (СП 12.13130.2009).</a:t>
            </a:r>
            <a:endParaRPr/>
          </a:p>
          <a:p>
            <a:pPr>
              <a:spcAft>
                <a:spcPts val="1000"/>
              </a:spcAft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00" b="1" i="0">
                <a:solidFill>
                  <a:srgbClr val="0F172A"/>
                </a:solidFill>
                <a:latin typeface="Segoe UI"/>
              </a:rPr>
              <a:t>Эргономика и режим труда:</a:t>
            </a:r>
            <a:r>
              <a:rPr sz="1600" b="0" i="0">
                <a:solidFill>
                  <a:srgbClr val="334155"/>
                </a:solidFill>
                <a:latin typeface="Segoe UI"/>
              </a:rPr>
              <a:t> регламентированные перерывы 10–15 мин при работе с ПК.</a:t>
            </a:r>
            <a:endParaRPr/>
          </a:p>
        </p:txBody>
      </p:sp>
      <p:pic>
        <p:nvPicPr>
          <p:cNvPr id="2062481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34016" name="Rectangle 1"/>
          <p:cNvSpPr/>
          <p:nvPr/>
        </p:nvSpPr>
        <p:spPr bwMode="auto"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2714503" name="TextBox 2"/>
          <p:cNvSpPr txBox="1"/>
          <p:nvPr/>
        </p:nvSpPr>
        <p:spPr bwMode="auto">
          <a:xfrm>
            <a:off x="548640" y="384048"/>
            <a:ext cx="11094415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defRPr/>
            </a:pPr>
            <a:r>
              <a:rPr sz="1200" b="1" i="0">
                <a:solidFill>
                  <a:srgbClr val="2563EB"/>
                </a:solidFill>
                <a:latin typeface="Segoe UI"/>
              </a:rPr>
              <a:t>РЕЗУЛЬТАТЫ РАБОТЫ</a:t>
            </a:r>
            <a:endParaRPr/>
          </a:p>
          <a:p>
            <a:pPr>
              <a:defRPr/>
            </a:pPr>
            <a:r>
              <a:rPr sz="2600" b="1" i="0">
                <a:solidFill>
                  <a:srgbClr val="0F172A"/>
                </a:solidFill>
                <a:latin typeface="Segoe UI"/>
              </a:rPr>
              <a:t>Заключение</a:t>
            </a:r>
            <a:endParaRPr/>
          </a:p>
        </p:txBody>
      </p:sp>
      <p:sp>
        <p:nvSpPr>
          <p:cNvPr id="269273582" name="Rectangle 3"/>
          <p:cNvSpPr/>
          <p:nvPr/>
        </p:nvSpPr>
        <p:spPr bwMode="auto">
          <a:xfrm>
            <a:off x="566928" y="1335024"/>
            <a:ext cx="201168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306350" name="TextBox 4"/>
          <p:cNvSpPr txBox="1"/>
          <p:nvPr/>
        </p:nvSpPr>
        <p:spPr bwMode="auto"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LocalCloud · ВКР</a:t>
            </a:r>
            <a:endParaRPr/>
          </a:p>
        </p:txBody>
      </p:sp>
      <p:sp>
        <p:nvSpPr>
          <p:cNvPr id="526468840" name="TextBox 5"/>
          <p:cNvSpPr txBox="1"/>
          <p:nvPr/>
        </p:nvSpPr>
        <p:spPr bwMode="auto">
          <a:xfrm>
            <a:off x="11094415" y="640080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64748B"/>
                </a:solidFill>
                <a:latin typeface="Segoe UI"/>
              </a:rPr>
              <a:t>20</a:t>
            </a:r>
            <a:endParaRPr/>
          </a:p>
        </p:txBody>
      </p:sp>
      <p:sp>
        <p:nvSpPr>
          <p:cNvPr id="144878974" name="TextBox 6"/>
          <p:cNvSpPr txBox="1"/>
          <p:nvPr/>
        </p:nvSpPr>
        <p:spPr bwMode="auto">
          <a:xfrm>
            <a:off x="640080" y="1691640"/>
            <a:ext cx="10911535" cy="4572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Все поставленные задачи решены; цель достигнута.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Создан готовый к развёртыванию продукт: стек из 6 сервисов поднимается одной командой, конфигурация автоматически подбирается под ресурсы хоста.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Ключевое решение — файловый трафик в обход backend — позволяет обслуживать файлы, размер которых многократно превышает ОЗУ сервера.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Качество подтверждено: 7679 автотестов, покрытие 98,6 % / 90,2 %, нагрузочное и security-тестирование.</a:t>
            </a:r>
            <a:endParaRPr/>
          </a:p>
          <a:p>
            <a:pPr>
              <a:spcAft>
                <a:spcPts val="1200"/>
              </a:spcAft>
              <a:defRPr/>
            </a:pPr>
            <a:r>
              <a:rPr sz="1650" b="1" i="0">
                <a:solidFill>
                  <a:srgbClr val="2563EB"/>
                </a:solidFill>
                <a:latin typeface="Segoe UI"/>
              </a:rPr>
              <a:t>▪ </a:t>
            </a:r>
            <a:r>
              <a:rPr sz="1650" b="0" i="0">
                <a:solidFill>
                  <a:srgbClr val="334155"/>
                </a:solidFill>
                <a:latin typeface="Segoe UI"/>
              </a:rPr>
              <a:t>Переиспользуемые решения: presigned multipart, очередь задач в СУБД, наследуемые права на дерево.</a:t>
            </a:r>
            <a:endParaRPr/>
          </a:p>
        </p:txBody>
      </p:sp>
      <p:pic>
        <p:nvPicPr>
          <p:cNvPr id="21367353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983506" name="Rectangl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4986562" name="Rectangle 2"/>
          <p:cNvSpPr/>
          <p:nvPr/>
        </p:nvSpPr>
        <p:spPr bwMode="auto"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7059533" name="Rectangle 3"/>
          <p:cNvSpPr/>
          <p:nvPr/>
        </p:nvSpPr>
        <p:spPr bwMode="auto">
          <a:xfrm>
            <a:off x="0" y="6693408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1803353" name="TextBox 4"/>
          <p:cNvSpPr txBox="1"/>
          <p:nvPr/>
        </p:nvSpPr>
        <p:spPr bwMode="auto">
          <a:xfrm>
            <a:off x="914400" y="2847011"/>
            <a:ext cx="10363614" cy="11646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defRPr/>
            </a:pPr>
            <a:r>
              <a:rPr sz="4000" b="1" i="0">
                <a:solidFill>
                  <a:schemeClr val="tx1"/>
                </a:solidFill>
                <a:latin typeface="Segoe UI"/>
              </a:rPr>
              <a:t>Спасибо за внимание!</a:t>
            </a:r>
            <a:endParaRPr>
              <a:solidFill>
                <a:schemeClr val="tx1"/>
              </a:solidFill>
            </a:endParaRPr>
          </a:p>
          <a:p>
            <a:pPr algn="ctr">
              <a:defRPr/>
            </a:pPr>
            <a:r>
              <a:rPr sz="1800" b="0" i="0">
                <a:solidFill>
                  <a:srgbClr val="334155"/>
                </a:solidFill>
                <a:latin typeface="Segoe UI"/>
              </a:rPr>
              <a:t>Готов ответить на вопросы</a:t>
            </a:r>
            <a:endParaRPr>
              <a:solidFill>
                <a:srgbClr val="334155"/>
              </a:solidFill>
            </a:endParaRPr>
          </a:p>
          <a:p>
            <a:pPr algn="ctr">
              <a:defRPr/>
            </a:pPr>
            <a:r>
              <a:rPr sz="1600" b="1" i="0">
                <a:solidFill>
                  <a:srgbClr val="2563EB"/>
                </a:solidFill>
                <a:latin typeface="Segoe UI"/>
              </a:rPr>
              <a:t>github.com/magomedov-dev/LocalCloud</a:t>
            </a:r>
            <a:endParaRPr/>
          </a:p>
        </p:txBody>
      </p:sp>
      <p:pic>
        <p:nvPicPr>
          <p:cNvPr id="19158938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054409" y="439014"/>
            <a:ext cx="628649" cy="62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4</cp:revision>
  <dcterms:created xsi:type="dcterms:W3CDTF">2013-01-27T09:14:16Z</dcterms:created>
  <dcterms:modified xsi:type="dcterms:W3CDTF">2026-06-24T15:50:45Z</dcterms:modified>
  <cp:category/>
</cp:coreProperties>
</file>