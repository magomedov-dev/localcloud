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 /><Relationship Id="rId28" Type="http://schemas.openxmlformats.org/officeDocument/2006/relationships/tableStyles" Target="tableStyles.xml" /><Relationship Id="rId2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1256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41080499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99190085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6723159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21349227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0012665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8760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6731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5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25293C-A110-EF81-DB17-FBB2237020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93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94696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6878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21EA74-E47C-E225-2302-9CAFC5A22D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80368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1466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304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352BC3-3937-77B8-53E0-0DD295B2BB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26124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1187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7418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B1D877-4A83-978D-4047-C53DD0D7AF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29277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3816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793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A3A5AB-B05D-2439-3FF6-E3208942C4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71373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81195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3289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714C66-014C-9B70-839B-D9A1686852F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631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685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6433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CDF6C3-699D-4DC1-A80D-E40F710271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2721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9887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677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520D8C-D2CA-43DE-719E-E1C1BF23EB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4986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18957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76693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659DE0-1349-B25D-4666-7C2A903FEC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91625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155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47101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1ADF02-D196-DD1A-CE01-DDB56006DC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3193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2857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812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8667CF-5190-1347-8C78-163D6FD3A0C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28418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16138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6339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84B4F8-8545-871A-21F8-BCFE3CD13E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5660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0169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9713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0FBA6A-3794-1282-B418-0113BF726E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417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9492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13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7C4077-E898-1948-F668-24886D9839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9354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9786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99081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74C254-C7FE-0A28-1AA6-3B169F5B26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793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90612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3519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183997-3E56-4433-C8C8-AA77193D90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4823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91708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7076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E7E552-B8B4-3342-9534-729342455A3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3215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7147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697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B2E9C4-F1A8-124F-8590-0363203AA5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6092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1886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15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2007E1-458B-2CC5-EAEB-A748C8102B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8525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3847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1492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4E857B-B1B7-3DFA-89AE-8CDC475F59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11065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1269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6941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E32F4A-2606-087D-AE67-8D66CB6AD6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1439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3621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052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BE17E-E895-CBBD-5F7C-C839650759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470940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9370239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425827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48390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61330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952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076830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90675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467768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40939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372906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794895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397702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68935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94237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2284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4601952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943941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823861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044947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371548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6958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85575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06479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604526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162517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250834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7893225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664297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4945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2608004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8806174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822092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26056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391559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0920674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698801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44351976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844218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2013956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022431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8508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624494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168641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58984353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96310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167254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65085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8729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019125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06123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603050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5318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13373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4492574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805648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7772925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26584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14363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6762776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38553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0794928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7203525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media1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518221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3299844" name="Rectangle 2"/>
          <p:cNvSpPr/>
          <p:nvPr/>
        </p:nvSpPr>
        <p:spPr bwMode="auto"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62288433" name="Rectangle 3"/>
          <p:cNvSpPr/>
          <p:nvPr/>
        </p:nvSpPr>
        <p:spPr bwMode="auto">
          <a:xfrm>
            <a:off x="0" y="6693408"/>
            <a:ext cx="12191695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43074100" name="TextBox 4"/>
          <p:cNvSpPr txBox="1"/>
          <p:nvPr/>
        </p:nvSpPr>
        <p:spPr bwMode="auto">
          <a:xfrm>
            <a:off x="914400" y="640080"/>
            <a:ext cx="10362895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300" b="0" i="0">
                <a:solidFill>
                  <a:srgbClr val="94A3B8"/>
                </a:solidFill>
                <a:latin typeface="Segoe UI"/>
              </a:rPr>
              <a:t>Минобрнауки России</a:t>
            </a:r>
            <a:endParaRPr/>
          </a:p>
          <a:p>
            <a:pPr algn="ctr">
              <a:defRPr/>
            </a:pPr>
            <a:r>
              <a:rPr sz="1400" b="1" i="0">
                <a:solidFill>
                  <a:srgbClr val="FFFFFF"/>
                </a:solidFill>
                <a:latin typeface="Segoe UI"/>
              </a:rPr>
              <a:t>ФГАОУ ВО «Северо-Кавказский федеральный университет»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94A3B8"/>
                </a:solidFill>
                <a:latin typeface="Segoe UI"/>
              </a:rPr>
              <a:t>Институт перспективной инженерии</a:t>
            </a:r>
            <a:endParaRPr/>
          </a:p>
        </p:txBody>
      </p:sp>
      <p:sp>
        <p:nvSpPr>
          <p:cNvPr id="1697654357" name="TextBox 5"/>
          <p:cNvSpPr txBox="1"/>
          <p:nvPr/>
        </p:nvSpPr>
        <p:spPr bwMode="auto">
          <a:xfrm>
            <a:off x="822960" y="2286000"/>
            <a:ext cx="10545775" cy="1554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1400" b="1" i="0">
                <a:solidFill>
                  <a:srgbClr val="2563EB"/>
                </a:solidFill>
                <a:latin typeface="Segoe UI"/>
              </a:rPr>
              <a:t>Выпускная квалификационная работа</a:t>
            </a:r>
            <a:endParaRPr/>
          </a:p>
          <a:p>
            <a:pPr algn="ctr">
              <a:defRPr/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Разработка веб-приложения для организации</a:t>
            </a:r>
            <a:br>
              <a:rPr sz="3000" b="1" i="0">
                <a:solidFill>
                  <a:srgbClr val="FFFFFF"/>
                </a:solidFill>
                <a:latin typeface="Segoe UI"/>
              </a:rPr>
            </a:br>
            <a:r>
              <a:rPr sz="3000" b="1" i="0">
                <a:solidFill>
                  <a:srgbClr val="FFFFFF"/>
                </a:solidFill>
                <a:latin typeface="Segoe UI"/>
              </a:rPr>
              <a:t>личного файлового хранилища</a:t>
            </a:r>
            <a:endParaRPr/>
          </a:p>
          <a:p>
            <a:pPr algn="ctr">
              <a:defRPr/>
            </a:pPr>
            <a:r>
              <a:rPr sz="1600" b="0" i="1">
                <a:solidFill>
                  <a:srgbClr val="CBD5E1"/>
                </a:solidFill>
                <a:latin typeface="Segoe UI"/>
              </a:rPr>
              <a:t>LocalCloud — self-hosted облачное хранилище</a:t>
            </a:r>
            <a:endParaRPr/>
          </a:p>
        </p:txBody>
      </p:sp>
      <p:sp>
        <p:nvSpPr>
          <p:cNvPr id="1881627634" name="TextBox 6"/>
          <p:cNvSpPr txBox="1"/>
          <p:nvPr/>
        </p:nvSpPr>
        <p:spPr bwMode="auto">
          <a:xfrm>
            <a:off x="1280160" y="4480560"/>
            <a:ext cx="9631375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endParaRPr/>
          </a:p>
          <a:p>
            <a:pPr>
              <a:defRPr/>
            </a:pPr>
            <a:r>
              <a:rPr sz="1400" b="0" i="0">
                <a:solidFill>
                  <a:srgbClr val="94A3B8"/>
                </a:solidFill>
                <a:latin typeface="Segoe UI"/>
              </a:rPr>
              <a:t>Выполнил:  </a:t>
            </a:r>
            <a:r>
              <a:rPr sz="1400" b="1" i="0">
                <a:solidFill>
                  <a:srgbClr val="FFFFFF"/>
                </a:solidFill>
                <a:latin typeface="Segoe UI"/>
              </a:rPr>
              <a:t>Магомедов Имран Борисович, гр. ПИЖ-б-о-22-1</a:t>
            </a:r>
            <a:endParaRPr/>
          </a:p>
          <a:p>
            <a:pPr>
              <a:defRPr/>
            </a:pPr>
            <a:r>
              <a:rPr sz="1400" b="0" i="0">
                <a:solidFill>
                  <a:srgbClr val="94A3B8"/>
                </a:solidFill>
                <a:latin typeface="Segoe UI"/>
              </a:rPr>
              <a:t>Направление:  </a:t>
            </a:r>
            <a:r>
              <a:rPr sz="1400" b="1" i="0">
                <a:solidFill>
                  <a:srgbClr val="FFFFFF"/>
                </a:solidFill>
                <a:latin typeface="Segoe UI"/>
              </a:rPr>
              <a:t>09.03.04 Программная инженерия</a:t>
            </a:r>
            <a:endParaRPr/>
          </a:p>
          <a:p>
            <a:pPr>
              <a:defRPr/>
            </a:pPr>
            <a:r>
              <a:rPr sz="1400" b="0" i="0">
                <a:solidFill>
                  <a:srgbClr val="94A3B8"/>
                </a:solidFill>
                <a:latin typeface="Segoe UI"/>
              </a:rPr>
              <a:t>Руководитель:  </a:t>
            </a:r>
            <a:r>
              <a:rPr sz="1400" b="1" i="0">
                <a:solidFill>
                  <a:srgbClr val="FFFFFF"/>
                </a:solidFill>
                <a:latin typeface="Segoe UI"/>
              </a:rPr>
              <a:t>к.т.н., доцент Самойлов Ф. В.</a:t>
            </a:r>
            <a:endParaRPr/>
          </a:p>
          <a:p>
            <a:pPr algn="l">
              <a:defRPr/>
            </a:pPr>
            <a:r>
              <a:rPr sz="1300" b="0" i="0">
                <a:solidFill>
                  <a:srgbClr val="94A3B8"/>
                </a:solidFill>
                <a:latin typeface="Segoe UI"/>
              </a:rPr>
              <a:t>Ставрополь, 2026</a:t>
            </a:r>
            <a:endParaRPr/>
          </a:p>
        </p:txBody>
      </p:sp>
      <p:pic>
        <p:nvPicPr>
          <p:cNvPr id="1928057316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054409" y="439015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74764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40061496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1 · АНАЛИЗ ПРЕДМЕТНОЙ ОБЛАСТИ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Актуальность</a:t>
            </a:r>
            <a:endParaRPr/>
          </a:p>
        </p:txBody>
      </p:sp>
      <p:sp>
        <p:nvSpPr>
          <p:cNvPr id="1872920413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49020569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780864100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</a:t>
            </a:r>
            <a:endParaRPr/>
          </a:p>
        </p:txBody>
      </p:sp>
      <p:sp>
        <p:nvSpPr>
          <p:cNvPr id="627428217" name="TextBox 6"/>
          <p:cNvSpPr txBox="1"/>
          <p:nvPr/>
        </p:nvSpPr>
        <p:spPr bwMode="auto">
          <a:xfrm>
            <a:off x="640080" y="1691640"/>
            <a:ext cx="10913334" cy="36488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800" b="1" i="0">
                <a:solidFill>
                  <a:srgbClr val="0F172A"/>
                </a:solidFill>
                <a:latin typeface="Segoe UI"/>
              </a:rPr>
              <a:t>Рост личных данных: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 фото/видео, документы, архивы — объём постоянно растёт.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800" b="1" i="0">
                <a:solidFill>
                  <a:srgbClr val="0F172A"/>
                </a:solidFill>
                <a:latin typeface="Segoe UI"/>
              </a:rPr>
              <a:t>Публичные облака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 (Google Drive, Dropbox, Я.Диск) — подписка, рост платежей, риски: блокировки, смена тарифов, контроль над данными у провайдера; после 2022 г. — проблемы оплаты.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800" b="1" i="0">
                <a:solidFill>
                  <a:srgbClr val="0F172A"/>
                </a:solidFill>
                <a:latin typeface="Segoe UI"/>
              </a:rPr>
              <a:t>Self-hosted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 (Nextcloud, ownCloud, Seafile) решает приватность, но рассчитан на мощные серверы: файловый трафик идёт через приложение → высокая нагрузка CPU/RAM.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800" b="1" i="0">
                <a:solidFill>
                  <a:srgbClr val="0F172A"/>
                </a:solidFill>
                <a:latin typeface="Segoe UI"/>
              </a:rPr>
              <a:t>Типовой доступный сервер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 частного пользователя — бюджетный VPS: 1 CPU / 1 ГБ ОЗУ.</a:t>
            </a:r>
            <a:endParaRPr/>
          </a:p>
          <a:p>
            <a:pPr lvl="1">
              <a:spcAft>
                <a:spcPts val="1200"/>
              </a:spcAft>
              <a:defRPr/>
            </a:pPr>
            <a:r>
              <a:rPr sz="1800" b="0" i="0">
                <a:solidFill>
                  <a:srgbClr val="64748B"/>
                </a:solidFill>
                <a:latin typeface="Segoe UI"/>
              </a:rPr>
              <a:t>–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Инженерная задача: передавать и обрабатывать данные, многократно превышающие память сервера.</a:t>
            </a:r>
            <a:endParaRPr/>
          </a:p>
        </p:txBody>
      </p:sp>
      <p:pic>
        <p:nvPicPr>
          <p:cNvPr id="9530295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578300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88879492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1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Цель и задачи</a:t>
            </a:r>
            <a:endParaRPr/>
          </a:p>
        </p:txBody>
      </p:sp>
      <p:sp>
        <p:nvSpPr>
          <p:cNvPr id="1272233088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4492299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1942005124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2</a:t>
            </a:r>
            <a:endParaRPr/>
          </a:p>
        </p:txBody>
      </p:sp>
      <p:sp>
        <p:nvSpPr>
          <p:cNvPr id="1826110441" name="TextBox 6"/>
          <p:cNvSpPr txBox="1"/>
          <p:nvPr/>
        </p:nvSpPr>
        <p:spPr bwMode="auto">
          <a:xfrm>
            <a:off x="640080" y="1600200"/>
            <a:ext cx="10911535" cy="1051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Цель</a:t>
            </a:r>
            <a:endParaRPr/>
          </a:p>
          <a:p>
            <a:pPr>
              <a:defRPr/>
            </a:pPr>
            <a:r>
              <a:rPr sz="1500" b="0" i="0">
                <a:solidFill>
                  <a:srgbClr val="334155"/>
                </a:solidFill>
                <a:latin typeface="Segoe UI"/>
              </a:rPr>
              <a:t>Разработать веб-приложение LocalCloud: личное файловое хранилище с загрузкой/скачиванием больших файлов, иерархией, разграничением доступа и публикацией по ссылкам, сохраняющее работоспособность на сервере 1 CPU / 1 ГБ ОЗУ.</a:t>
            </a:r>
            <a:endParaRPr/>
          </a:p>
        </p:txBody>
      </p:sp>
      <p:sp>
        <p:nvSpPr>
          <p:cNvPr id="1555233481" name="TextBox 7"/>
          <p:cNvSpPr txBox="1"/>
          <p:nvPr/>
        </p:nvSpPr>
        <p:spPr bwMode="auto">
          <a:xfrm>
            <a:off x="640080" y="2788920"/>
            <a:ext cx="10911535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9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Проанализировать предметную область и аналоги, сформировать требования.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Спроектировать архитектуру по C4, БД, REST API, подсистемы хранения, задач и безопасности.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Реализовать серверную и клиентскую части и средства развёртывания.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Провести модульное, интеграционное, нагрузочное тестирование и тестирование безопасности.</a:t>
            </a:r>
            <a:endParaRPr/>
          </a:p>
          <a:p>
            <a:pPr>
              <a:spcAft>
                <a:spcPts val="9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Выполнить технико-экономическое обоснование и рассмотреть охрану труда.</a:t>
            </a:r>
            <a:endParaRPr/>
          </a:p>
        </p:txBody>
      </p:sp>
      <p:pic>
        <p:nvPicPr>
          <p:cNvPr id="14439647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870578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6677298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1 · USE CASE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Заинтересованные лица (акторы)</a:t>
            </a:r>
            <a:endParaRPr/>
          </a:p>
        </p:txBody>
      </p:sp>
      <p:sp>
        <p:nvSpPr>
          <p:cNvPr id="47310629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13496599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1840811116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3</a:t>
            </a:r>
            <a:endParaRPr/>
          </a:p>
        </p:txBody>
      </p:sp>
      <p:sp>
        <p:nvSpPr>
          <p:cNvPr id="1493072588" name="TextBox 6"/>
          <p:cNvSpPr txBox="1"/>
          <p:nvPr/>
        </p:nvSpPr>
        <p:spPr bwMode="auto">
          <a:xfrm flipH="0" flipV="0">
            <a:off x="640080" y="1691640"/>
            <a:ext cx="4888956" cy="329067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Гость: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вход, заявка на регистрацию, доступ по публичной ссылке (просмотр / скачивание / загрузка, возможно по паролю).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Пользователь: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свои файлы, папки и корзина; выдача доступа другим; публичные ссылки; квота и сессии.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Администратор: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учётные записи и заявки, блокировки, квоты, журнал аудита, фоновые задачи.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Фоновый обработчик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(системный актор): архивы, превью, плановая очистка из очереди задач.</a:t>
            </a:r>
            <a:endParaRPr/>
          </a:p>
        </p:txBody>
      </p:sp>
      <p:pic>
        <p:nvPicPr>
          <p:cNvPr id="587503896" name="Picture 7" descr="user-cas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714542" y="1691640"/>
            <a:ext cx="5989776" cy="4130879"/>
          </a:xfrm>
          <a:prstGeom prst="rect">
            <a:avLst/>
          </a:prstGeom>
        </p:spPr>
      </p:pic>
      <p:sp>
        <p:nvSpPr>
          <p:cNvPr id="1553789166" name="TextBox 8"/>
          <p:cNvSpPr txBox="1"/>
          <p:nvPr/>
        </p:nvSpPr>
        <p:spPr bwMode="auto">
          <a:xfrm>
            <a:off x="6286271" y="6144768"/>
            <a:ext cx="4846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Рисунок 1.1 — Диаграмма вариантов использования</a:t>
            </a:r>
            <a:endParaRPr/>
          </a:p>
        </p:txBody>
      </p:sp>
      <p:pic>
        <p:nvPicPr>
          <p:cNvPr id="70509080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359877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5220356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1 · ТРЕБОВАНИЯ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Основной функционал</a:t>
            </a:r>
            <a:endParaRPr/>
          </a:p>
        </p:txBody>
      </p:sp>
      <p:sp>
        <p:nvSpPr>
          <p:cNvPr id="1295812749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2598263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121052631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4</a:t>
            </a:r>
            <a:endParaRPr/>
          </a:p>
        </p:txBody>
      </p:sp>
      <p:sp>
        <p:nvSpPr>
          <p:cNvPr id="1155414585" name="TextBox 6"/>
          <p:cNvSpPr txBox="1"/>
          <p:nvPr/>
        </p:nvSpPr>
        <p:spPr bwMode="auto">
          <a:xfrm>
            <a:off x="640080" y="1691640"/>
            <a:ext cx="10916934" cy="286649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Файлы и папки: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дерево произвольной вложенности, перемещение, копирование, переименование, поиск.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Многочастичная загрузка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напрямую в объектное хранилище по presigned-URL (мимо backend).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Скачивание архивами: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упаковка папок/наборов в ZIP фоновым процессом.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Корзина: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мягкое удаление, восстановление, автоочистка.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Общий доступ: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права между пользователями (5 уровней, наследование) и публичные ссылки (срок, пароль).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Квоты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, </a:t>
            </a:r>
            <a:r>
              <a:rPr sz="1600" b="1" i="0">
                <a:solidFill>
                  <a:srgbClr val="334155"/>
                </a:solidFill>
                <a:latin typeface="Segoe UI"/>
              </a:rPr>
              <a:t>превью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(изображения, PDF, видео), </a:t>
            </a:r>
            <a:r>
              <a:rPr sz="1600" b="1" i="0">
                <a:solidFill>
                  <a:srgbClr val="334155"/>
                </a:solidFill>
                <a:latin typeface="Segoe UI"/>
              </a:rPr>
              <a:t>аутентификация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(JWT, регистрация по заявке), </a:t>
            </a:r>
            <a:r>
              <a:rPr sz="1600" b="1" i="0">
                <a:solidFill>
                  <a:srgbClr val="334155"/>
                </a:solidFill>
                <a:latin typeface="Segoe UI"/>
              </a:rPr>
              <a:t>админ-панель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.</a:t>
            </a:r>
            <a:endParaRPr/>
          </a:p>
        </p:txBody>
      </p:sp>
      <p:pic>
        <p:nvPicPr>
          <p:cNvPr id="17210372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028551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2971085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1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Нефункциональные требования</a:t>
            </a:r>
            <a:endParaRPr/>
          </a:p>
        </p:txBody>
      </p:sp>
      <p:sp>
        <p:nvSpPr>
          <p:cNvPr id="1282794326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7122748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1178990811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5</a:t>
            </a:r>
            <a:endParaRPr/>
          </a:p>
        </p:txBody>
      </p:sp>
      <p:sp>
        <p:nvSpPr>
          <p:cNvPr id="1744326496" name="TextBox 6"/>
          <p:cNvSpPr txBox="1"/>
          <p:nvPr/>
        </p:nvSpPr>
        <p:spPr bwMode="auto">
          <a:xfrm>
            <a:off x="640080" y="1691640"/>
            <a:ext cx="10911535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1" i="0">
                <a:solidFill>
                  <a:srgbClr val="0F172A"/>
                </a:solidFill>
                <a:latin typeface="Segoe UI"/>
              </a:rPr>
              <a:t>Производительность: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 работа на 1 CPU / 1 ГБ ОЗУ при 3–5 пользователях; размер файла не ограничен памятью сервера.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1" i="0">
                <a:solidFill>
                  <a:srgbClr val="0F172A"/>
                </a:solidFill>
                <a:latin typeface="Segoe UI"/>
              </a:rPr>
              <a:t>Безопасность: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 JWT в httpOnly-cookie с ротацией, пароли только хэшами, проверка прав на каждую операцию, защита от перебора.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1" i="0">
                <a:solidFill>
                  <a:srgbClr val="0F172A"/>
                </a:solidFill>
                <a:latin typeface="Segoe UI"/>
              </a:rPr>
              <a:t>Надёжность: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 перезапуск без потери данных, повтор фоновых задач с нарастающей задержкой, миграции схемы.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1" i="0">
                <a:solidFill>
                  <a:srgbClr val="0F172A"/>
                </a:solidFill>
                <a:latin typeface="Segoe UI"/>
              </a:rPr>
              <a:t>Интерфейс: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 адаптивный SPA, тёмная/светлая темы, отзывчивость.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1" i="0">
                <a:solidFill>
                  <a:srgbClr val="0F172A"/>
                </a:solidFill>
                <a:latin typeface="Segoe UI"/>
              </a:rPr>
              <a:t>Развёртывание и сопровождение: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 запуск одной командой Docker Compose, конфигурация под ресурсы хоста.</a:t>
            </a:r>
            <a:endParaRPr/>
          </a:p>
        </p:txBody>
      </p:sp>
      <p:pic>
        <p:nvPicPr>
          <p:cNvPr id="153152180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821635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9502123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2 · ПРОЕКТИРОВАНИЕ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Архитектура системы (C4: контейнеры)</a:t>
            </a:r>
            <a:endParaRPr/>
          </a:p>
        </p:txBody>
      </p:sp>
      <p:sp>
        <p:nvSpPr>
          <p:cNvPr id="1467367170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0283767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452695260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6</a:t>
            </a:r>
            <a:endParaRPr/>
          </a:p>
        </p:txBody>
      </p:sp>
      <p:sp>
        <p:nvSpPr>
          <p:cNvPr id="240333801" name="TextBox 6"/>
          <p:cNvSpPr txBox="1"/>
          <p:nvPr/>
        </p:nvSpPr>
        <p:spPr bwMode="auto">
          <a:xfrm>
            <a:off x="640080" y="1645920"/>
            <a:ext cx="6036838" cy="317383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Многоуровневая клиент-серверная архитектура; модель </a:t>
            </a:r>
            <a:r>
              <a:rPr sz="1500" b="1" i="0">
                <a:solidFill>
                  <a:srgbClr val="334155"/>
                </a:solidFill>
                <a:latin typeface="Segoe UI"/>
              </a:rPr>
              <a:t>C4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SPA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(React) → только через шлюз.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nginx-шлюз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— единая точка входа: /, /api, бакеты.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API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(FastAPI) — метаданные, права, координация загрузок.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Worker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— ресурсоёмкие и плановые операции.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PostgreSQL 16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— метаданные и очередь задач.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MinIO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— S3-хранилище содержимого.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Ключ: файловый трафик идёт SPA → шлюз → MinIO в обход API.</a:t>
            </a:r>
            <a:endParaRPr/>
          </a:p>
        </p:txBody>
      </p:sp>
      <p:pic>
        <p:nvPicPr>
          <p:cNvPr id="53149459" name="Picture 7" descr="c2-container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277687" y="1252728"/>
            <a:ext cx="3855657" cy="5010910"/>
          </a:xfrm>
          <a:prstGeom prst="rect">
            <a:avLst/>
          </a:prstGeom>
        </p:spPr>
      </p:pic>
      <p:sp>
        <p:nvSpPr>
          <p:cNvPr id="871891214" name="TextBox 8"/>
          <p:cNvSpPr txBox="1"/>
          <p:nvPr/>
        </p:nvSpPr>
        <p:spPr bwMode="auto">
          <a:xfrm>
            <a:off x="6903720" y="6281927"/>
            <a:ext cx="48006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Рисунок 2.2 — Диаграмма контейнеров (C4, C2)</a:t>
            </a:r>
            <a:endParaRPr/>
          </a:p>
        </p:txBody>
      </p:sp>
      <p:pic>
        <p:nvPicPr>
          <p:cNvPr id="15834273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6548529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0703798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2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Слои серверного приложения (C4: компоненты)</a:t>
            </a:r>
            <a:endParaRPr/>
          </a:p>
        </p:txBody>
      </p:sp>
      <p:sp>
        <p:nvSpPr>
          <p:cNvPr id="1139450422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8322071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232951407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7</a:t>
            </a:r>
            <a:endParaRPr/>
          </a:p>
        </p:txBody>
      </p:sp>
      <p:sp>
        <p:nvSpPr>
          <p:cNvPr id="1118237600" name="TextBox 6"/>
          <p:cNvSpPr txBox="1"/>
          <p:nvPr/>
        </p:nvSpPr>
        <p:spPr bwMode="auto">
          <a:xfrm flipH="0" flipV="0">
            <a:off x="640080" y="1645920"/>
            <a:ext cx="5395679" cy="34430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700"/>
              </a:spcAft>
              <a:defRPr/>
            </a:pPr>
            <a:r>
              <a:rPr sz="14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450" b="1" i="0">
                <a:solidFill>
                  <a:srgbClr val="0F172A"/>
                </a:solidFill>
                <a:latin typeface="Segoe UI"/>
              </a:rPr>
              <a:t>Маршрутизаторы (api):</a:t>
            </a:r>
            <a:r>
              <a:rPr sz="1450" b="0" i="0">
                <a:solidFill>
                  <a:srgbClr val="334155"/>
                </a:solidFill>
                <a:latin typeface="Segoe UI"/>
              </a:rPr>
              <a:t> валидация схем, права, формирование ответа; знают только о сервисах.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4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450" b="1" i="0">
                <a:solidFill>
                  <a:srgbClr val="0F172A"/>
                </a:solidFill>
                <a:latin typeface="Segoe UI"/>
              </a:rPr>
              <a:t>Доменные сервисы (services):</a:t>
            </a:r>
            <a:r>
              <a:rPr sz="1450" b="0" i="0">
                <a:solidFill>
                  <a:srgbClr val="334155"/>
                </a:solidFill>
                <a:latin typeface="Segoe UI"/>
              </a:rPr>
              <a:t> бизнес-логика прецедентов; оркеструют репозитории и хранилище.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4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450" b="1" i="0">
                <a:solidFill>
                  <a:srgbClr val="0F172A"/>
                </a:solidFill>
                <a:latin typeface="Segoe UI"/>
              </a:rPr>
              <a:t>Репозитории (repositories):</a:t>
            </a:r>
            <a:r>
              <a:rPr sz="1450" b="0" i="0">
                <a:solidFill>
                  <a:srgbClr val="334155"/>
                </a:solidFill>
                <a:latin typeface="Segoe UI"/>
              </a:rPr>
              <a:t> инкапсулируют SQL; рекурсивные CTE для деревьев и прав.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4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450" b="1" i="0">
                <a:solidFill>
                  <a:srgbClr val="0F172A"/>
                </a:solidFill>
                <a:latin typeface="Segoe UI"/>
              </a:rPr>
              <a:t>Unit of Work:</a:t>
            </a:r>
            <a:r>
              <a:rPr sz="1450" b="0" i="0">
                <a:solidFill>
                  <a:srgbClr val="334155"/>
                </a:solidFill>
                <a:latin typeface="Segoe UI"/>
              </a:rPr>
              <a:t> владеет сессией БД, явная фиксация, авто-откат при выходе без commit.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4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450" b="1" i="0">
                <a:solidFill>
                  <a:srgbClr val="0F172A"/>
                </a:solidFill>
                <a:latin typeface="Segoe UI"/>
              </a:rPr>
              <a:t>Модели (models):</a:t>
            </a:r>
            <a:r>
              <a:rPr sz="1450" b="0" i="0">
                <a:solidFill>
                  <a:srgbClr val="334155"/>
                </a:solidFill>
                <a:latin typeface="Segoe UI"/>
              </a:rPr>
              <a:t> декларативные классы SQLAlchemy 2 (Mapped).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4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450" b="1" i="0">
                <a:solidFill>
                  <a:srgbClr val="0F172A"/>
                </a:solidFill>
                <a:latin typeface="Segoe UI"/>
              </a:rPr>
              <a:t>Storage-фасад:</a:t>
            </a:r>
            <a:r>
              <a:rPr sz="1450" b="0" i="0">
                <a:solidFill>
                  <a:srgbClr val="334155"/>
                </a:solidFill>
                <a:latin typeface="Segoe UI"/>
              </a:rPr>
              <a:t> единый интерфейс к MinIO (бакеты, объекты, multipart, presigned).</a:t>
            </a:r>
            <a:endParaRPr/>
          </a:p>
          <a:p>
            <a:pPr>
              <a:spcAft>
                <a:spcPts val="700"/>
              </a:spcAft>
              <a:defRPr/>
            </a:pPr>
            <a:r>
              <a:rPr sz="14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450" b="0" i="0">
                <a:solidFill>
                  <a:srgbClr val="334155"/>
                </a:solidFill>
                <a:latin typeface="Segoe UI"/>
              </a:rPr>
              <a:t>Зависимости строго к нижним слоям — циклов нет.</a:t>
            </a:r>
            <a:endParaRPr/>
          </a:p>
        </p:txBody>
      </p:sp>
      <p:pic>
        <p:nvPicPr>
          <p:cNvPr id="711074974" name="Picture 7" descr="c3-component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152726" y="1645920"/>
            <a:ext cx="5551593" cy="4493354"/>
          </a:xfrm>
          <a:prstGeom prst="rect">
            <a:avLst/>
          </a:prstGeom>
        </p:spPr>
      </p:pic>
      <p:sp>
        <p:nvSpPr>
          <p:cNvPr id="828760635" name="TextBox 8"/>
          <p:cNvSpPr txBox="1"/>
          <p:nvPr/>
        </p:nvSpPr>
        <p:spPr bwMode="auto">
          <a:xfrm>
            <a:off x="6522643" y="6240780"/>
            <a:ext cx="47548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Рисунок 2.3 — Диаграмма компонентов (C4, C3)</a:t>
            </a:r>
            <a:endParaRPr/>
          </a:p>
        </p:txBody>
      </p:sp>
      <p:pic>
        <p:nvPicPr>
          <p:cNvPr id="8212531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8924471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9386684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2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Паттерны проектирования</a:t>
            </a:r>
            <a:endParaRPr/>
          </a:p>
        </p:txBody>
      </p:sp>
      <p:sp>
        <p:nvSpPr>
          <p:cNvPr id="1438229195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4720019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828105169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8</a:t>
            </a:r>
            <a:endParaRPr/>
          </a:p>
        </p:txBody>
      </p:sp>
      <p:sp>
        <p:nvSpPr>
          <p:cNvPr id="1188062591" name="TextBox 6"/>
          <p:cNvSpPr txBox="1"/>
          <p:nvPr/>
        </p:nvSpPr>
        <p:spPr bwMode="auto">
          <a:xfrm>
            <a:off x="640080" y="1691640"/>
            <a:ext cx="10911535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700" b="1" i="0">
                <a:solidFill>
                  <a:srgbClr val="0F172A"/>
                </a:solidFill>
                <a:latin typeface="Segoe UI"/>
              </a:rPr>
              <a:t>Repository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 — изоляция бизнес-логики от SQL/ORM.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700" b="1" i="0">
                <a:solidFill>
                  <a:srgbClr val="0F172A"/>
                </a:solidFill>
                <a:latin typeface="Segoe UI"/>
              </a:rPr>
              <a:t>Unit of Work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 — транзакционный контейнер с явной фиксацией.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700" b="1" i="0">
                <a:solidFill>
                  <a:srgbClr val="0F172A"/>
                </a:solidFill>
                <a:latin typeface="Segoe UI"/>
              </a:rPr>
              <a:t>Facade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 — StorageService как единый интерфейс к хранилищу.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700" b="1" i="0">
                <a:solidFill>
                  <a:srgbClr val="0F172A"/>
                </a:solidFill>
                <a:latin typeface="Segoe UI"/>
              </a:rPr>
              <a:t>Adapter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 — асинхронная обёртка блокирующего MinIO SDK поверх пула потоков.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700" b="1" i="0">
                <a:solidFill>
                  <a:srgbClr val="0F172A"/>
                </a:solidFill>
                <a:latin typeface="Segoe UI"/>
              </a:rPr>
              <a:t>Dependency Injection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 — зависимости через механизм FastAPI (развязка слоёв, подмена в тестах).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700" b="1" i="0">
                <a:solidFill>
                  <a:srgbClr val="0F172A"/>
                </a:solidFill>
                <a:latin typeface="Segoe UI"/>
              </a:rPr>
              <a:t>Command + Registry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 — обработчики фоновых задач в реестре по типу задачи.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700" b="1" i="0">
                <a:solidFill>
                  <a:srgbClr val="0F172A"/>
                </a:solidFill>
                <a:latin typeface="Segoe UI"/>
              </a:rPr>
              <a:t>Proxy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 — ленивый прокси настроек (чтение конфигурации при первом обращении).</a:t>
            </a:r>
            <a:endParaRPr/>
          </a:p>
        </p:txBody>
      </p:sp>
      <p:pic>
        <p:nvPicPr>
          <p:cNvPr id="47970825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183431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1228018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2 · ПРОЕКТНАЯ ЧАСТЬ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Проектирование БД · инфологическая модель</a:t>
            </a:r>
            <a:endParaRPr/>
          </a:p>
        </p:txBody>
      </p:sp>
      <p:sp>
        <p:nvSpPr>
          <p:cNvPr id="125457328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65953153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662093568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9</a:t>
            </a:r>
            <a:endParaRPr/>
          </a:p>
        </p:txBody>
      </p:sp>
      <p:sp>
        <p:nvSpPr>
          <p:cNvPr id="664052208" name="TextBox 6"/>
          <p:cNvSpPr txBox="1"/>
          <p:nvPr/>
        </p:nvSpPr>
        <p:spPr bwMode="auto">
          <a:xfrm flipH="0" flipV="0">
            <a:off x="640080" y="1645920"/>
            <a:ext cx="5395679" cy="316113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14 таблиц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, нормализация до 3НФ, суррогатные ключи UUID.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Три контура: </a:t>
            </a:r>
            <a:r>
              <a:rPr sz="1500" b="1" i="0">
                <a:solidFill>
                  <a:srgbClr val="334155"/>
                </a:solidFill>
                <a:latin typeface="Segoe UI"/>
              </a:rPr>
              <a:t>файловая иерархия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(узлы/файлы/папки), </a:t>
            </a:r>
            <a:r>
              <a:rPr sz="1500" b="1" i="0">
                <a:solidFill>
                  <a:srgbClr val="334155"/>
                </a:solidFill>
                <a:latin typeface="Segoe UI"/>
              </a:rPr>
              <a:t>доступ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(права/ссылки/сессии), </a:t>
            </a:r>
            <a:r>
              <a:rPr sz="1500" b="1" i="0">
                <a:solidFill>
                  <a:srgbClr val="334155"/>
                </a:solidFill>
                <a:latin typeface="Segoe UI"/>
              </a:rPr>
              <a:t>служебный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(загрузки/задачи/квоты/аудит).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Узел file_system_nodes + спутники files / folders («один-к-одному») — общие операции единообразны.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Метаданные (PostgreSQL) и содержимое (MinIO по ключу объекта) разделены уже на концептуальном уровне.</a:t>
            </a:r>
            <a:endParaRPr/>
          </a:p>
        </p:txBody>
      </p:sp>
      <p:pic>
        <p:nvPicPr>
          <p:cNvPr id="2020013744" name="Picture 7" descr="er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35759" y="2099381"/>
            <a:ext cx="5760000" cy="2718143"/>
          </a:xfrm>
          <a:prstGeom prst="rect">
            <a:avLst/>
          </a:prstGeom>
        </p:spPr>
      </p:pic>
      <p:sp>
        <p:nvSpPr>
          <p:cNvPr id="1489147378" name="TextBox 8"/>
          <p:cNvSpPr txBox="1"/>
          <p:nvPr/>
        </p:nvSpPr>
        <p:spPr bwMode="auto">
          <a:xfrm>
            <a:off x="6263999" y="5230368"/>
            <a:ext cx="53035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Рисунок 1.2 — Концептуальная модель данных (ER)</a:t>
            </a:r>
            <a:endParaRPr/>
          </a:p>
        </p:txBody>
      </p:sp>
      <p:pic>
        <p:nvPicPr>
          <p:cNvPr id="54157707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012204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0192304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2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Технологический стек</a:t>
            </a:r>
            <a:endParaRPr/>
          </a:p>
        </p:txBody>
      </p:sp>
      <p:sp>
        <p:nvSpPr>
          <p:cNvPr id="984881331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32767843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863967140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10</a:t>
            </a:r>
            <a:endParaRPr/>
          </a:p>
        </p:txBody>
      </p:sp>
      <p:sp>
        <p:nvSpPr>
          <p:cNvPr id="290320283" name="Rectangle 6"/>
          <p:cNvSpPr/>
          <p:nvPr/>
        </p:nvSpPr>
        <p:spPr bwMode="auto">
          <a:xfrm>
            <a:off x="640080" y="1737360"/>
            <a:ext cx="3423818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7749384" name="TextBox 7"/>
          <p:cNvSpPr txBox="1"/>
          <p:nvPr/>
        </p:nvSpPr>
        <p:spPr bwMode="auto">
          <a:xfrm>
            <a:off x="640080" y="1737360"/>
            <a:ext cx="342381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Backend</a:t>
            </a:r>
            <a:endParaRPr/>
          </a:p>
        </p:txBody>
      </p:sp>
      <p:sp>
        <p:nvSpPr>
          <p:cNvPr id="1802814292" name="Rectangle 8"/>
          <p:cNvSpPr/>
          <p:nvPr/>
        </p:nvSpPr>
        <p:spPr bwMode="auto">
          <a:xfrm>
            <a:off x="640080" y="2240280"/>
            <a:ext cx="3423818" cy="3703320"/>
          </a:xfrm>
          <a:prstGeom prst="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09728" rtlCol="0" anchor="ctr"/>
          <a:lstStyle/>
          <a:p>
            <a:pPr algn="l">
              <a:spcAft>
                <a:spcPts val="800"/>
              </a:spcAft>
              <a:defRPr/>
            </a:pPr>
            <a:r>
              <a:rPr sz="1400" b="1" i="0">
                <a:solidFill>
                  <a:srgbClr val="2563EB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Python 3.13, FastAPI, uvicorn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2563EB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SQLAlchemy 2 (async) + asyncpg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2563EB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Alembic, Pydantic v2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2563EB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python-jose (JWT), passlib (bcrypt/argon2)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2563EB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MinIO SDK, Pillow, PyMuPDF</a:t>
            </a:r>
            <a:endParaRPr/>
          </a:p>
        </p:txBody>
      </p:sp>
      <p:sp>
        <p:nvSpPr>
          <p:cNvPr id="1796330643" name="Rectangle 9"/>
          <p:cNvSpPr/>
          <p:nvPr/>
        </p:nvSpPr>
        <p:spPr bwMode="auto">
          <a:xfrm>
            <a:off x="4383938" y="1737360"/>
            <a:ext cx="3423818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2558808" name="TextBox 10"/>
          <p:cNvSpPr txBox="1"/>
          <p:nvPr/>
        </p:nvSpPr>
        <p:spPr bwMode="auto">
          <a:xfrm>
            <a:off x="4383938" y="1737360"/>
            <a:ext cx="342381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Frontend</a:t>
            </a:r>
            <a:endParaRPr/>
          </a:p>
        </p:txBody>
      </p:sp>
      <p:sp>
        <p:nvSpPr>
          <p:cNvPr id="2093007302" name="Rectangle 11"/>
          <p:cNvSpPr/>
          <p:nvPr/>
        </p:nvSpPr>
        <p:spPr bwMode="auto">
          <a:xfrm>
            <a:off x="4383938" y="2240280"/>
            <a:ext cx="3423818" cy="3703320"/>
          </a:xfrm>
          <a:prstGeom prst="rect">
            <a:avLst/>
          </a:prstGeom>
          <a:solidFill>
            <a:srgbClr val="F1F5F9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09728" rtlCol="0" anchor="ctr"/>
          <a:lstStyle/>
          <a:p>
            <a:pPr algn="l">
              <a:spcAft>
                <a:spcPts val="800"/>
              </a:spcAft>
              <a:defRPr/>
            </a:pPr>
            <a:r>
              <a:rPr sz="1400" b="1" i="0">
                <a:solidFill>
                  <a:srgbClr val="16A34A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React 19, TypeScript 6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16A34A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Vite 8, React Router 7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16A34A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TanStack Query / Virtual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16A34A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Tailwind CSS 4, Radix UI / shadcn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16A34A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Axios, lucide-react, Sonner</a:t>
            </a:r>
            <a:endParaRPr/>
          </a:p>
        </p:txBody>
      </p:sp>
      <p:sp>
        <p:nvSpPr>
          <p:cNvPr id="1163747463" name="Rectangle 12"/>
          <p:cNvSpPr/>
          <p:nvPr/>
        </p:nvSpPr>
        <p:spPr bwMode="auto">
          <a:xfrm>
            <a:off x="8127796" y="1737360"/>
            <a:ext cx="3423818" cy="5029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3468178" name="TextBox 13"/>
          <p:cNvSpPr txBox="1"/>
          <p:nvPr/>
        </p:nvSpPr>
        <p:spPr bwMode="auto">
          <a:xfrm>
            <a:off x="8127796" y="1737360"/>
            <a:ext cx="342381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1600" b="1" i="0">
                <a:solidFill>
                  <a:srgbClr val="FFFFFF"/>
                </a:solidFill>
                <a:latin typeface="Segoe UI"/>
              </a:rPr>
              <a:t>Хранилище / Инфра</a:t>
            </a:r>
            <a:endParaRPr/>
          </a:p>
        </p:txBody>
      </p:sp>
      <p:sp>
        <p:nvSpPr>
          <p:cNvPr id="1471981" name="Rectangle 14"/>
          <p:cNvSpPr/>
          <p:nvPr/>
        </p:nvSpPr>
        <p:spPr bwMode="auto">
          <a:xfrm>
            <a:off x="8127796" y="2240280"/>
            <a:ext cx="3423818" cy="3703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09728" rtlCol="0" anchor="ctr"/>
          <a:lstStyle/>
          <a:p>
            <a:pPr algn="l">
              <a:spcAft>
                <a:spcPts val="800"/>
              </a:spcAft>
              <a:defRPr/>
            </a:pPr>
            <a:r>
              <a:rPr sz="1400" b="1" i="0">
                <a:solidFill>
                  <a:srgbClr val="EA580C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PostgreSQL 16 (метаданные)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EA580C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MinIO (S3-совместимое)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EA580C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Docker Compose (6 сервисов)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EA580C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nginx (шлюз + SPA)</a:t>
            </a:r>
            <a:endParaRPr/>
          </a:p>
          <a:p>
            <a:pPr>
              <a:spcAft>
                <a:spcPts val="800"/>
              </a:spcAft>
              <a:defRPr/>
            </a:pPr>
            <a:r>
              <a:rPr sz="1400" b="1" i="0">
                <a:solidFill>
                  <a:srgbClr val="EA580C"/>
                </a:solidFill>
                <a:latin typeface="Segoe UI"/>
              </a:rPr>
              <a:t>• </a:t>
            </a:r>
            <a:r>
              <a:rPr sz="1400" b="0" i="0">
                <a:solidFill>
                  <a:srgbClr val="334155"/>
                </a:solidFill>
                <a:latin typeface="Segoe UI"/>
              </a:rPr>
              <a:t>uv, pytest, Vitest, ESLint, ruff</a:t>
            </a:r>
            <a:endParaRPr/>
          </a:p>
        </p:txBody>
      </p:sp>
      <p:pic>
        <p:nvPicPr>
          <p:cNvPr id="34068379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689597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3569965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3 · КОНСТРУИРОВАНИЕ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Структура проекта (монорепозиторий)</a:t>
            </a:r>
            <a:endParaRPr/>
          </a:p>
        </p:txBody>
      </p:sp>
      <p:sp>
        <p:nvSpPr>
          <p:cNvPr id="1518191844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4475098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1332488524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11</a:t>
            </a:r>
            <a:endParaRPr/>
          </a:p>
        </p:txBody>
      </p:sp>
      <p:sp>
        <p:nvSpPr>
          <p:cNvPr id="134022706" name="Rectangle 6"/>
          <p:cNvSpPr/>
          <p:nvPr/>
        </p:nvSpPr>
        <p:spPr bwMode="auto">
          <a:xfrm flipH="0" flipV="0">
            <a:off x="640080" y="1691640"/>
            <a:ext cx="5394959" cy="4572000"/>
          </a:xfrm>
          <a:prstGeom prst="rect">
            <a:avLst/>
          </a:prstGeom>
          <a:solidFill>
            <a:srgbClr val="0F172A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bIns="73152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LocalCloud/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├─ backend/        FastAPI API + фоновый worker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├─ api/        роутеры /api/v1 (15 групп)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├─ services/   доменные сервисы (16)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├─ database/   модели, репозитории (14), UoW, миграции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├─ storage/    фасад MinIO (presigned, multipart)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├─ workers/    диспетчер, реестр, планировщик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└─ tests/      unit + integration (pytest)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├─ frontend/       SPA на React + Vite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├─ src/        api, components, hooks, pages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│   └─ tests/      Vitest + Testing Library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├─ nginx/          шлюз / reverse-proxy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├─ scripts/        генератор .env под ресурсы хоста</a:t>
            </a:r>
            <a:endParaRPr/>
          </a:p>
          <a:p>
            <a:pPr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└─ docker-compose.yml   весь стек (6 сервисов)</a:t>
            </a:r>
            <a:endParaRPr/>
          </a:p>
        </p:txBody>
      </p:sp>
      <p:pic>
        <p:nvPicPr>
          <p:cNvPr id="816065520" name="Picture 8" descr="packag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364649" y="1691640"/>
            <a:ext cx="5186963" cy="4215925"/>
          </a:xfrm>
          <a:prstGeom prst="rect">
            <a:avLst/>
          </a:prstGeom>
        </p:spPr>
      </p:pic>
      <p:sp>
        <p:nvSpPr>
          <p:cNvPr id="1689500331" name="TextBox 9"/>
          <p:cNvSpPr txBox="1"/>
          <p:nvPr/>
        </p:nvSpPr>
        <p:spPr bwMode="auto">
          <a:xfrm>
            <a:off x="6717851" y="6080760"/>
            <a:ext cx="4480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Рисунок 3.3 — Диаграмма пакетов</a:t>
            </a:r>
            <a:endParaRPr/>
          </a:p>
        </p:txBody>
      </p:sp>
      <p:pic>
        <p:nvPicPr>
          <p:cNvPr id="7467330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817508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95438131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3 · РАЗДЕЛ 5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Прошедшие проектные этапы и процесс</a:t>
            </a:r>
            <a:endParaRPr/>
          </a:p>
        </p:txBody>
      </p:sp>
      <p:sp>
        <p:nvSpPr>
          <p:cNvPr id="783441307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8309753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256714452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12</a:t>
            </a:r>
            <a:endParaRPr/>
          </a:p>
        </p:txBody>
      </p:sp>
      <p:sp>
        <p:nvSpPr>
          <p:cNvPr id="1853400688" name="TextBox 6"/>
          <p:cNvSpPr txBox="1"/>
          <p:nvPr/>
        </p:nvSpPr>
        <p:spPr bwMode="auto">
          <a:xfrm flipH="0" flipV="0">
            <a:off x="640080" y="1645920"/>
            <a:ext cx="5395679" cy="251343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1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Жизненный цикл — 5 этапов: анализ и проектирование, кодирование, тестирование, документация, развёртывание.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Git Flow: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main / develop, ветки feature/* · release/* · hotfix/*; свыше 80 коммитов.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1" i="0">
                <a:solidFill>
                  <a:srgbClr val="0F172A"/>
                </a:solidFill>
                <a:latin typeface="Segoe UI"/>
              </a:rPr>
              <a:t>Conventional Commits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+ </a:t>
            </a:r>
            <a:r>
              <a:rPr sz="1500" b="1" i="0">
                <a:solidFill>
                  <a:srgbClr val="334155"/>
                </a:solidFill>
                <a:latin typeface="Segoe UI"/>
              </a:rPr>
              <a:t>SemVer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 (теги v0.1.0-beta.1, v0.1.0, v0.1.1); CHANGELOG.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Оценка трудоёмкости методом </a:t>
            </a:r>
            <a:r>
              <a:rPr sz="1500" b="1" i="0">
                <a:solidFill>
                  <a:srgbClr val="334155"/>
                </a:solidFill>
                <a:latin typeface="Segoe UI"/>
              </a:rPr>
              <a:t>PERT</a:t>
            </a:r>
            <a:r>
              <a:rPr sz="1500" b="0" i="0">
                <a:solidFill>
                  <a:srgbClr val="334155"/>
                </a:solidFill>
                <a:latin typeface="Segoe UI"/>
              </a:rPr>
              <a:t>; план — диаграмма Ганта.</a:t>
            </a:r>
            <a:endParaRPr/>
          </a:p>
        </p:txBody>
      </p:sp>
      <p:sp>
        <p:nvSpPr>
          <p:cNvPr id="1458520443" name="TextBox 8"/>
          <p:cNvSpPr txBox="1"/>
          <p:nvPr/>
        </p:nvSpPr>
        <p:spPr bwMode="auto">
          <a:xfrm>
            <a:off x="6196402" y="6240780"/>
            <a:ext cx="51206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Рисунок 5.1 — Календарный план (Ганта)</a:t>
            </a:r>
            <a:endParaRPr/>
          </a:p>
        </p:txBody>
      </p:sp>
      <p:pic>
        <p:nvPicPr>
          <p:cNvPr id="104732555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  <p:pic>
        <p:nvPicPr>
          <p:cNvPr id="14031095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5772149" y="1335024"/>
            <a:ext cx="5596584" cy="49057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4006187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06935602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3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Реализация · ключевые моменты</a:t>
            </a:r>
            <a:endParaRPr/>
          </a:p>
        </p:txBody>
      </p:sp>
      <p:sp>
        <p:nvSpPr>
          <p:cNvPr id="1908831933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9477209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1787615925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13</a:t>
            </a:r>
            <a:endParaRPr/>
          </a:p>
        </p:txBody>
      </p:sp>
      <p:sp>
        <p:nvSpPr>
          <p:cNvPr id="9138653" name="TextBox 6"/>
          <p:cNvSpPr txBox="1"/>
          <p:nvPr/>
        </p:nvSpPr>
        <p:spPr bwMode="auto">
          <a:xfrm>
            <a:off x="640080" y="1691640"/>
            <a:ext cx="10913334" cy="295793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Загрузка мимо backend: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клиент пишет части напрямую в MinIO по presigned-URL (часть 8 МБ), сервер лишь координирует сессию и подписывает ссылки → память сервера не зависит от размера файла.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Наследование прав: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право на папку распространяется на поддерево; обход предков одним рекурсивным CTE вместо N+1 запросов.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Фоновый worker: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очередь задач в PostgreSQL, конкурентный захват через SELECT FOR UPDATE SKIP LOCKED, повторы с экспоненциальной задержкой, планировщик периодических задач.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Тихое продление сессии: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перехватчик axios обновляет токены при 401, остальные запросы ждут в очереди — без гонок.</a:t>
            </a:r>
            <a:endParaRPr/>
          </a:p>
          <a:p>
            <a:pPr>
              <a:spcAft>
                <a:spcPts val="11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1" i="0">
                <a:solidFill>
                  <a:srgbClr val="0F172A"/>
                </a:solidFill>
                <a:latin typeface="Segoe UI"/>
              </a:rPr>
              <a:t>Превью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изображений/PDF/видео и </a:t>
            </a:r>
            <a:r>
              <a:rPr sz="1550" b="1" i="0">
                <a:solidFill>
                  <a:srgbClr val="334155"/>
                </a:solidFill>
                <a:latin typeface="Segoe UI"/>
              </a:rPr>
              <a:t>упаковка ZIP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— потоково, без буферизации целиком в памяти.</a:t>
            </a:r>
            <a:endParaRPr/>
          </a:p>
        </p:txBody>
      </p:sp>
      <p:pic>
        <p:nvPicPr>
          <p:cNvPr id="50624933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056708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8635463" name="TextBox 2"/>
          <p:cNvSpPr txBox="1"/>
          <p:nvPr/>
        </p:nvSpPr>
        <p:spPr bwMode="auto">
          <a:xfrm>
            <a:off x="566927" y="312419"/>
            <a:ext cx="11094774" cy="101229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3 · РЕАЛИЗАЦИЯ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Пример запроса · наследование прав </a:t>
            </a:r>
            <a:br>
              <a:rPr sz="2600" b="1" i="0">
                <a:solidFill>
                  <a:srgbClr val="0F172A"/>
                </a:solidFill>
                <a:latin typeface="Segoe UI"/>
              </a:rPr>
            </a:br>
            <a:r>
              <a:rPr sz="2600" b="1" i="0">
                <a:solidFill>
                  <a:srgbClr val="0F172A"/>
                </a:solidFill>
                <a:latin typeface="Segoe UI"/>
              </a:rPr>
              <a:t>(рекурсивный CTE)</a:t>
            </a:r>
            <a:endParaRPr/>
          </a:p>
        </p:txBody>
      </p:sp>
      <p:sp>
        <p:nvSpPr>
          <p:cNvPr id="1963565521" name="Rectangle 3"/>
          <p:cNvSpPr/>
          <p:nvPr/>
        </p:nvSpPr>
        <p:spPr bwMode="auto">
          <a:xfrm>
            <a:off x="566928" y="1439798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58365297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2083113762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14</a:t>
            </a:r>
            <a:endParaRPr/>
          </a:p>
        </p:txBody>
      </p:sp>
      <p:sp>
        <p:nvSpPr>
          <p:cNvPr id="1740979636" name="TextBox 6"/>
          <p:cNvSpPr txBox="1"/>
          <p:nvPr/>
        </p:nvSpPr>
        <p:spPr bwMode="auto">
          <a:xfrm>
            <a:off x="548640" y="1645920"/>
            <a:ext cx="5623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300" b="1" i="0">
                <a:solidFill>
                  <a:srgbClr val="2563EB"/>
                </a:solidFill>
                <a:latin typeface="Segoe UI"/>
              </a:rPr>
              <a:t>SQL-запрос (PostgreSQL)</a:t>
            </a:r>
            <a:endParaRPr/>
          </a:p>
        </p:txBody>
      </p:sp>
      <p:sp>
        <p:nvSpPr>
          <p:cNvPr id="1605389762" name="Rectangle 7"/>
          <p:cNvSpPr/>
          <p:nvPr/>
        </p:nvSpPr>
        <p:spPr bwMode="auto">
          <a:xfrm>
            <a:off x="548640" y="1956816"/>
            <a:ext cx="5623560" cy="3986784"/>
          </a:xfrm>
          <a:prstGeom prst="rect">
            <a:avLst/>
          </a:prstGeom>
          <a:solidFill>
            <a:srgbClr val="0F172A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bIns="73152" rtlCol="0" anchor="ctr"/>
          <a:lstStyle/>
          <a:p>
            <a:pPr marL="0" marR="0" lvl="0" indent="0"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WITH RECURSIVE permission_ancestors AS 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</a:t>
            </a:r>
            <a:r>
              <a:rPr lang="ru-RU" sz="1050" b="0" i="0">
                <a:solidFill>
                  <a:srgbClr val="E2E8F0"/>
                </a:solidFill>
                <a:latin typeface="Consolas"/>
              </a:rPr>
              <a:t> </a:t>
            </a:r>
            <a:r>
              <a:rPr sz="1050" b="0" i="0">
                <a:solidFill>
                  <a:srgbClr val="E2E8F0"/>
                </a:solidFill>
                <a:latin typeface="Consolas"/>
              </a:rPr>
              <a:t>SELECT id, parent_id FROM file_system_nodes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WHERE id = :node_id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UNION ALL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SELECT n.id, n.parent_id FROM file_system_nodes n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JOIN permission_ancestors a ON n.id = a.parent_id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WHERE n.is_deleted = false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SELECT * FROM node_permissions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WHERE node_id IN (SELECT id FROM permission_ancestors)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AND user_id = :user_id AND &lt;активно&gt;;</a:t>
            </a:r>
            <a:endParaRPr/>
          </a:p>
        </p:txBody>
      </p:sp>
      <p:sp>
        <p:nvSpPr>
          <p:cNvPr id="345568557" name="TextBox 8"/>
          <p:cNvSpPr txBox="1"/>
          <p:nvPr/>
        </p:nvSpPr>
        <p:spPr bwMode="auto">
          <a:xfrm>
            <a:off x="6355080" y="1645920"/>
            <a:ext cx="5285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300" b="1" i="0">
                <a:solidFill>
                  <a:srgbClr val="16A34A"/>
                </a:solidFill>
                <a:latin typeface="Segoe UI"/>
              </a:rPr>
              <a:t>Код (SQLAlchemy 2, async)</a:t>
            </a:r>
            <a:endParaRPr/>
          </a:p>
        </p:txBody>
      </p:sp>
      <p:sp>
        <p:nvSpPr>
          <p:cNvPr id="1880153670" name="Rectangle 9"/>
          <p:cNvSpPr/>
          <p:nvPr/>
        </p:nvSpPr>
        <p:spPr bwMode="auto">
          <a:xfrm>
            <a:off x="6355080" y="1956816"/>
            <a:ext cx="5285232" cy="3986784"/>
          </a:xfrm>
          <a:prstGeom prst="rect">
            <a:avLst/>
          </a:prstGeom>
          <a:solidFill>
            <a:srgbClr val="0F172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bIns="73152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ancestors = 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select(Node.id, Node.parent_id)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.where(Node.id == node_id)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.cte('permission_ancestors', recursive=True))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parent = aliased(Node)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ancestors = ancestors.union_all(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select(parent.id, parent.parent_id).where(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    parent.id == ancestors.c.parent_id,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    parent.is_deleted.is_(False)))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stmt = select(NodePermission).where(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NodePermission.node_id.in_(select(ancestors.c.id)),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NodePermission.user_id == user_id, *active)</a:t>
            </a:r>
            <a:endParaRPr/>
          </a:p>
        </p:txBody>
      </p:sp>
      <p:sp>
        <p:nvSpPr>
          <p:cNvPr id="155722980" name="TextBox 10"/>
          <p:cNvSpPr txBox="1"/>
          <p:nvPr/>
        </p:nvSpPr>
        <p:spPr bwMode="auto"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300" b="0" i="1">
                <a:solidFill>
                  <a:srgbClr val="64748B"/>
                </a:solidFill>
                <a:latin typeface="Segoe UI"/>
              </a:rPr>
              <a:t>Эффективные права с учётом наследования — за один запрос (устранён антипаттерн N+1).</a:t>
            </a:r>
            <a:endParaRPr/>
          </a:p>
        </p:txBody>
      </p:sp>
      <p:pic>
        <p:nvPicPr>
          <p:cNvPr id="189164866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53503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24414061" name="TextBox 2"/>
          <p:cNvSpPr txBox="1"/>
          <p:nvPr/>
        </p:nvSpPr>
        <p:spPr bwMode="auto">
          <a:xfrm>
            <a:off x="548640" y="312599"/>
            <a:ext cx="11095134" cy="101229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3 · РЕАЛИЗАЦИЯ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Пример запроса · захват задач очереди</a:t>
            </a:r>
            <a:br>
              <a:rPr sz="2600" b="1" i="0">
                <a:solidFill>
                  <a:srgbClr val="0F172A"/>
                </a:solidFill>
                <a:latin typeface="Segoe UI"/>
              </a:rPr>
            </a:br>
            <a:r>
              <a:rPr sz="2600" b="1" i="0">
                <a:solidFill>
                  <a:srgbClr val="0F172A"/>
                </a:solidFill>
                <a:latin typeface="Segoe UI"/>
              </a:rPr>
              <a:t>(SKIP LOCKED)</a:t>
            </a:r>
            <a:endParaRPr/>
          </a:p>
        </p:txBody>
      </p:sp>
      <p:sp>
        <p:nvSpPr>
          <p:cNvPr id="602314334" name="Rectangle 3"/>
          <p:cNvSpPr/>
          <p:nvPr/>
        </p:nvSpPr>
        <p:spPr bwMode="auto">
          <a:xfrm>
            <a:off x="566928" y="138074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4109874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227869576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15</a:t>
            </a:r>
            <a:endParaRPr/>
          </a:p>
        </p:txBody>
      </p:sp>
      <p:sp>
        <p:nvSpPr>
          <p:cNvPr id="2067628070" name="TextBox 6"/>
          <p:cNvSpPr txBox="1"/>
          <p:nvPr/>
        </p:nvSpPr>
        <p:spPr bwMode="auto">
          <a:xfrm>
            <a:off x="548640" y="1645920"/>
            <a:ext cx="56235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300" b="1" i="0">
                <a:solidFill>
                  <a:srgbClr val="2563EB"/>
                </a:solidFill>
                <a:latin typeface="Segoe UI"/>
              </a:rPr>
              <a:t>SQL-запрос (PostgreSQL)</a:t>
            </a:r>
            <a:endParaRPr/>
          </a:p>
        </p:txBody>
      </p:sp>
      <p:sp>
        <p:nvSpPr>
          <p:cNvPr id="295357867" name="Rectangle 7"/>
          <p:cNvSpPr/>
          <p:nvPr/>
        </p:nvSpPr>
        <p:spPr bwMode="auto">
          <a:xfrm>
            <a:off x="548640" y="1956816"/>
            <a:ext cx="5623560" cy="3986784"/>
          </a:xfrm>
          <a:prstGeom prst="rect">
            <a:avLst/>
          </a:prstGeom>
          <a:solidFill>
            <a:srgbClr val="0F172A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bIns="73152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SELECT * FROM background_tasks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WHERE status = 'PENDING'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AND (scheduled_at IS NULL OR scheduled_at &lt;= now())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AND (locked_until IS NULL OR locked_until &lt; now())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ORDER BY priority, scheduled_at, created_at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LIMIT :batch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FOR UPDATE SKIP LOCKED;</a:t>
            </a:r>
            <a:endParaRPr/>
          </a:p>
        </p:txBody>
      </p:sp>
      <p:sp>
        <p:nvSpPr>
          <p:cNvPr id="2014345894" name="TextBox 8"/>
          <p:cNvSpPr txBox="1"/>
          <p:nvPr/>
        </p:nvSpPr>
        <p:spPr bwMode="auto">
          <a:xfrm>
            <a:off x="6355080" y="1645920"/>
            <a:ext cx="5285232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300" b="1" i="0">
                <a:solidFill>
                  <a:srgbClr val="16A34A"/>
                </a:solidFill>
                <a:latin typeface="Segoe UI"/>
              </a:rPr>
              <a:t>Код (SQLAlchemy 2, async)</a:t>
            </a:r>
            <a:endParaRPr/>
          </a:p>
        </p:txBody>
      </p:sp>
      <p:sp>
        <p:nvSpPr>
          <p:cNvPr id="1252406107" name="Rectangle 9"/>
          <p:cNvSpPr/>
          <p:nvPr/>
        </p:nvSpPr>
        <p:spPr bwMode="auto">
          <a:xfrm>
            <a:off x="6355080" y="1956816"/>
            <a:ext cx="5285232" cy="3986784"/>
          </a:xfrm>
          <a:prstGeom prst="rect">
            <a:avLst/>
          </a:prstGeom>
          <a:solidFill>
            <a:srgbClr val="0F172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bIns="73152" rtlCol="0" anchor="ctr"/>
          <a:lstStyle/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stmt = 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select(BackgroundTask)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.where(*conditions)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.order_by(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    priority_rank.asc(),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    BackgroundTask.scheduled_at.asc().nullsfirst(),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    BackgroundTask.created_at.asc())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.limit(limit)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.with_for_update(skip_locked=True))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tasks = await self.scalars_all(</a:t>
            </a:r>
            <a:endParaRPr/>
          </a:p>
          <a:p>
            <a:pPr algn="l">
              <a:lnSpc>
                <a:spcPct val="100000"/>
              </a:lnSpc>
              <a:spcAft>
                <a:spcPts val="0"/>
              </a:spcAft>
              <a:defRPr/>
            </a:pPr>
            <a:r>
              <a:rPr sz="1050" b="0" i="0">
                <a:solidFill>
                  <a:srgbClr val="E2E8F0"/>
                </a:solidFill>
                <a:latin typeface="Consolas"/>
              </a:rPr>
              <a:t>    stmt, operation='lock_due_tasks')</a:t>
            </a:r>
            <a:endParaRPr/>
          </a:p>
        </p:txBody>
      </p:sp>
      <p:sp>
        <p:nvSpPr>
          <p:cNvPr id="1788740478" name="TextBox 10"/>
          <p:cNvSpPr txBox="1"/>
          <p:nvPr/>
        </p:nvSpPr>
        <p:spPr bwMode="auto"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300" b="0" i="1">
                <a:solidFill>
                  <a:srgbClr val="64748B"/>
                </a:solidFill>
                <a:latin typeface="Segoe UI"/>
              </a:rPr>
              <a:t>Несколько воркеров конкурентно берут задачи без распределённого координатора и брокера.</a:t>
            </a:r>
            <a:endParaRPr/>
          </a:p>
        </p:txBody>
      </p:sp>
      <p:pic>
        <p:nvPicPr>
          <p:cNvPr id="187244665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830012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9933332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3 · КЛИЕНТСКАЯ ЧАСТЬ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Пользовательский интерфейс</a:t>
            </a:r>
            <a:endParaRPr/>
          </a:p>
        </p:txBody>
      </p:sp>
      <p:sp>
        <p:nvSpPr>
          <p:cNvPr id="1083755999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6987228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743013774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16</a:t>
            </a:r>
            <a:endParaRPr/>
          </a:p>
        </p:txBody>
      </p:sp>
      <p:sp>
        <p:nvSpPr>
          <p:cNvPr id="498242093" name="TextBox 7"/>
          <p:cNvSpPr txBox="1"/>
          <p:nvPr/>
        </p:nvSpPr>
        <p:spPr bwMode="auto">
          <a:xfrm flipH="0" flipV="0">
            <a:off x="548639" y="5024626"/>
            <a:ext cx="5533559" cy="20457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Файловый браузер</a:t>
            </a:r>
            <a:endParaRPr/>
          </a:p>
        </p:txBody>
      </p:sp>
      <p:sp>
        <p:nvSpPr>
          <p:cNvPr id="1464614618" name="TextBox 11"/>
          <p:cNvSpPr txBox="1"/>
          <p:nvPr/>
        </p:nvSpPr>
        <p:spPr bwMode="auto">
          <a:xfrm flipH="0" flipV="0">
            <a:off x="6105219" y="5024626"/>
            <a:ext cx="5578559" cy="20457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defRPr/>
            </a:pPr>
            <a:r>
              <a:rPr sz="1100" b="0" i="1">
                <a:solidFill>
                  <a:srgbClr val="64748B"/>
                </a:solidFill>
                <a:latin typeface="Segoe UI"/>
              </a:rPr>
              <a:t>Админ-панель</a:t>
            </a:r>
            <a:endParaRPr/>
          </a:p>
        </p:txBody>
      </p:sp>
      <p:pic>
        <p:nvPicPr>
          <p:cNvPr id="20322033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  <p:pic>
        <p:nvPicPr>
          <p:cNvPr id="106847734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66928" y="1651086"/>
            <a:ext cx="5544306" cy="3268989"/>
          </a:xfrm>
          <a:prstGeom prst="rect">
            <a:avLst/>
          </a:prstGeom>
        </p:spPr>
      </p:pic>
      <p:pic>
        <p:nvPicPr>
          <p:cNvPr id="44114480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111234" y="1651086"/>
            <a:ext cx="5544306" cy="32689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165939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5022909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4 · КАЧЕСТВО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Тестирование и покрытие</a:t>
            </a:r>
            <a:endParaRPr/>
          </a:p>
        </p:txBody>
      </p:sp>
      <p:sp>
        <p:nvSpPr>
          <p:cNvPr id="982781926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622635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1814113909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17</a:t>
            </a:r>
            <a:endParaRPr/>
          </a:p>
        </p:txBody>
      </p:sp>
      <p:sp>
        <p:nvSpPr>
          <p:cNvPr id="229352445" name="Rectangle 6"/>
          <p:cNvSpPr/>
          <p:nvPr/>
        </p:nvSpPr>
        <p:spPr bwMode="auto">
          <a:xfrm>
            <a:off x="640080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4310430" name="TextBox 7"/>
          <p:cNvSpPr txBox="1"/>
          <p:nvPr/>
        </p:nvSpPr>
        <p:spPr bwMode="auto">
          <a:xfrm>
            <a:off x="731519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2563EB"/>
                </a:solidFill>
                <a:latin typeface="Segoe UI"/>
              </a:rPr>
              <a:t>7679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автотестов — все пройдены</a:t>
            </a:r>
            <a:endParaRPr/>
          </a:p>
        </p:txBody>
      </p:sp>
      <p:sp>
        <p:nvSpPr>
          <p:cNvPr id="1077194265" name="Rectangle 8"/>
          <p:cNvSpPr/>
          <p:nvPr/>
        </p:nvSpPr>
        <p:spPr bwMode="auto">
          <a:xfrm>
            <a:off x="3436543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5149773" name="TextBox 9"/>
          <p:cNvSpPr txBox="1"/>
          <p:nvPr/>
        </p:nvSpPr>
        <p:spPr bwMode="auto">
          <a:xfrm>
            <a:off x="3527983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16A34A"/>
                </a:solidFill>
                <a:latin typeface="Segoe UI"/>
              </a:rPr>
              <a:t>6745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backend (6559 unit + 186 integ.)</a:t>
            </a:r>
            <a:endParaRPr/>
          </a:p>
        </p:txBody>
      </p:sp>
      <p:sp>
        <p:nvSpPr>
          <p:cNvPr id="307080807" name="Rectangle 10"/>
          <p:cNvSpPr/>
          <p:nvPr/>
        </p:nvSpPr>
        <p:spPr bwMode="auto">
          <a:xfrm>
            <a:off x="6233007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7458664" name="TextBox 11"/>
          <p:cNvSpPr txBox="1"/>
          <p:nvPr/>
        </p:nvSpPr>
        <p:spPr bwMode="auto">
          <a:xfrm>
            <a:off x="6324447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EA580C"/>
                </a:solidFill>
                <a:latin typeface="Segoe UI"/>
              </a:rPr>
              <a:t>934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frontend (Vitest)</a:t>
            </a:r>
            <a:endParaRPr/>
          </a:p>
        </p:txBody>
      </p:sp>
      <p:sp>
        <p:nvSpPr>
          <p:cNvPr id="1773933027" name="Rectangle 12"/>
          <p:cNvSpPr/>
          <p:nvPr/>
        </p:nvSpPr>
        <p:spPr bwMode="auto">
          <a:xfrm>
            <a:off x="9029471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77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365318" name="TextBox 13"/>
          <p:cNvSpPr txBox="1"/>
          <p:nvPr/>
        </p:nvSpPr>
        <p:spPr bwMode="auto">
          <a:xfrm>
            <a:off x="9120911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7733EA"/>
                </a:solidFill>
                <a:latin typeface="Segoe UI"/>
              </a:rPr>
              <a:t>98,6%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покрытие backend</a:t>
            </a:r>
            <a:endParaRPr/>
          </a:p>
        </p:txBody>
      </p:sp>
      <p:sp>
        <p:nvSpPr>
          <p:cNvPr id="570054776" name="TextBox 14"/>
          <p:cNvSpPr txBox="1"/>
          <p:nvPr/>
        </p:nvSpPr>
        <p:spPr bwMode="auto">
          <a:xfrm>
            <a:off x="640080" y="3703320"/>
            <a:ext cx="10915134" cy="20714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Три уровня: модульное, интеграционное (REST API через TestClient), системное; среда без внешних сервисов.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Покрытие: backend </a:t>
            </a:r>
            <a:r>
              <a:rPr sz="1550" b="1" i="0">
                <a:solidFill>
                  <a:srgbClr val="334155"/>
                </a:solidFill>
                <a:latin typeface="Segoe UI"/>
              </a:rPr>
              <a:t>98,6 %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операторов, frontend </a:t>
            </a:r>
            <a:r>
              <a:rPr sz="1550" b="1" i="0">
                <a:solidFill>
                  <a:srgbClr val="334155"/>
                </a:solidFill>
                <a:latin typeface="Segoe UI"/>
              </a:rPr>
              <a:t>90,2 %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(пороги 85/80 % закреплены в конфигурации).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Нагрузочное тестирование: p99 задержки ≤ 177 мс при требовании 2 с; управляемое поведение при перегрузке.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Тестирование безопасности: JWT, права, защита от перебора, гигиена секретов.</a:t>
            </a:r>
            <a:endParaRPr/>
          </a:p>
        </p:txBody>
      </p:sp>
      <p:pic>
        <p:nvPicPr>
          <p:cNvPr id="13448290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235752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5525365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5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Технико-экономическое обоснование</a:t>
            </a:r>
            <a:endParaRPr/>
          </a:p>
        </p:txBody>
      </p:sp>
      <p:sp>
        <p:nvSpPr>
          <p:cNvPr id="495861757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03073081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548583515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18</a:t>
            </a:r>
            <a:endParaRPr/>
          </a:p>
        </p:txBody>
      </p:sp>
      <p:sp>
        <p:nvSpPr>
          <p:cNvPr id="2062668471" name="Rectangle 6"/>
          <p:cNvSpPr/>
          <p:nvPr/>
        </p:nvSpPr>
        <p:spPr bwMode="auto">
          <a:xfrm>
            <a:off x="640080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6542134" name="TextBox 7"/>
          <p:cNvSpPr txBox="1"/>
          <p:nvPr/>
        </p:nvSpPr>
        <p:spPr bwMode="auto">
          <a:xfrm>
            <a:off x="731519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2563EB"/>
                </a:solidFill>
                <a:latin typeface="Segoe UI"/>
              </a:rPr>
              <a:t>802 141 ₽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себестоимость разработки</a:t>
            </a:r>
            <a:endParaRPr/>
          </a:p>
        </p:txBody>
      </p:sp>
      <p:sp>
        <p:nvSpPr>
          <p:cNvPr id="658084523" name="Rectangle 8"/>
          <p:cNvSpPr/>
          <p:nvPr/>
        </p:nvSpPr>
        <p:spPr bwMode="auto">
          <a:xfrm>
            <a:off x="3436543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450259" name="TextBox 9"/>
          <p:cNvSpPr txBox="1"/>
          <p:nvPr/>
        </p:nvSpPr>
        <p:spPr bwMode="auto">
          <a:xfrm>
            <a:off x="3527983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16A34A"/>
                </a:solidFill>
                <a:latin typeface="Segoe UI"/>
              </a:rPr>
              <a:t>38 400 ₽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экономия владельца в год</a:t>
            </a:r>
            <a:endParaRPr/>
          </a:p>
        </p:txBody>
      </p:sp>
      <p:sp>
        <p:nvSpPr>
          <p:cNvPr id="799091614" name="Rectangle 10"/>
          <p:cNvSpPr/>
          <p:nvPr/>
        </p:nvSpPr>
        <p:spPr bwMode="auto">
          <a:xfrm>
            <a:off x="6233007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6446974" name="TextBox 11"/>
          <p:cNvSpPr txBox="1"/>
          <p:nvPr/>
        </p:nvSpPr>
        <p:spPr bwMode="auto">
          <a:xfrm>
            <a:off x="6324447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EA580C"/>
                </a:solidFill>
                <a:latin typeface="Segoe UI"/>
              </a:rPr>
              <a:t>1,6 года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срок окупаемости</a:t>
            </a:r>
            <a:endParaRPr/>
          </a:p>
        </p:txBody>
      </p:sp>
      <p:sp>
        <p:nvSpPr>
          <p:cNvPr id="128450485" name="Rectangle 12"/>
          <p:cNvSpPr/>
          <p:nvPr/>
        </p:nvSpPr>
        <p:spPr bwMode="auto">
          <a:xfrm>
            <a:off x="9029471" y="1783080"/>
            <a:ext cx="2522143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77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89075085" name="TextBox 13"/>
          <p:cNvSpPr txBox="1"/>
          <p:nvPr/>
        </p:nvSpPr>
        <p:spPr bwMode="auto">
          <a:xfrm>
            <a:off x="9120911" y="1947671"/>
            <a:ext cx="2339263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3000" b="1" i="0">
                <a:solidFill>
                  <a:srgbClr val="7733EA"/>
                </a:solidFill>
                <a:latin typeface="Segoe UI"/>
              </a:rPr>
              <a:t>8,25</a:t>
            </a:r>
            <a:endParaRPr/>
          </a:p>
          <a:p>
            <a:pPr algn="ctr">
              <a:defRPr/>
            </a:pPr>
            <a:r>
              <a:rPr sz="1300" b="0" i="0">
                <a:solidFill>
                  <a:srgbClr val="334155"/>
                </a:solidFill>
                <a:latin typeface="Segoe UI"/>
              </a:rPr>
              <a:t>индекс доходности</a:t>
            </a:r>
            <a:endParaRPr/>
          </a:p>
        </p:txBody>
      </p:sp>
      <p:sp>
        <p:nvSpPr>
          <p:cNvPr id="677804242" name="TextBox 14"/>
          <p:cNvSpPr txBox="1"/>
          <p:nvPr/>
        </p:nvSpPr>
        <p:spPr bwMode="auto">
          <a:xfrm>
            <a:off x="640080" y="3703320"/>
            <a:ext cx="10918734" cy="1835255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Трудоёмкость оценена методом </a:t>
            </a:r>
            <a:r>
              <a:rPr sz="1550" b="1" i="0">
                <a:solidFill>
                  <a:srgbClr val="334155"/>
                </a:solidFill>
                <a:latin typeface="Segoe UI"/>
              </a:rPr>
              <a:t>PERT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(5 этапов); объём кода ≈ 126 тыс. строк без тестов.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Полная себестоимость — </a:t>
            </a:r>
            <a:r>
              <a:rPr sz="1550" b="1" i="0">
                <a:solidFill>
                  <a:srgbClr val="334155"/>
                </a:solidFill>
                <a:latin typeface="Segoe UI"/>
              </a:rPr>
              <a:t>802 141 ₽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, договорная цена с НДС — </a:t>
            </a:r>
            <a:r>
              <a:rPr sz="1550" b="1" i="0">
                <a:solidFill>
                  <a:srgbClr val="334155"/>
                </a:solidFill>
                <a:latin typeface="Segoe UI"/>
              </a:rPr>
              <a:t>1 203 211 ₽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Продукт тиражируемый: чистый дисконтированный доход за 5 лет — </a:t>
            </a:r>
            <a:r>
              <a:rPr sz="1550" b="1" i="0">
                <a:solidFill>
                  <a:srgbClr val="334155"/>
                </a:solidFill>
                <a:latin typeface="Segoe UI"/>
              </a:rPr>
              <a:t>5,82 млн ₽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 (консервативный прогноз).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5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550" b="0" i="0">
                <a:solidFill>
                  <a:srgbClr val="334155"/>
                </a:solidFill>
                <a:latin typeface="Segoe UI"/>
              </a:rPr>
              <a:t>Качественные эффекты: приватность, контроль над данными, независимость от провайдера, вклад в open source.</a:t>
            </a:r>
            <a:endParaRPr/>
          </a:p>
        </p:txBody>
      </p:sp>
      <p:pic>
        <p:nvPicPr>
          <p:cNvPr id="130761822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0973939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6589017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РАЗДЕЛ 6 · БЖД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Безопасность и охрана труда</a:t>
            </a:r>
            <a:endParaRPr/>
          </a:p>
        </p:txBody>
      </p:sp>
      <p:sp>
        <p:nvSpPr>
          <p:cNvPr id="582773857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0458085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364814356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19</a:t>
            </a:r>
            <a:endParaRPr/>
          </a:p>
        </p:txBody>
      </p:sp>
      <p:sp>
        <p:nvSpPr>
          <p:cNvPr id="1155699655" name="TextBox 6"/>
          <p:cNvSpPr txBox="1"/>
          <p:nvPr/>
        </p:nvSpPr>
        <p:spPr bwMode="auto">
          <a:xfrm>
            <a:off x="640080" y="1691640"/>
            <a:ext cx="10911535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Рабочее место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по ГОСТ 12.2.032-78: площадь ≥ 4,5 м², объём ≥ 15 м³, высота стола 725 мм, регулируемое кресло.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Микроклимат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для категории работ Iа по СанПиН 1.2.3685-21 (температура, влажность, скорость воздуха).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Освещение: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совмещённое естественное и искусственное, нормированная освещённость рабочей зоны.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Электробезопасность: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помещение без повышенной опасности (ПУЭ).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Пожарная безопасность: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категория В4, класс пожара E (СП 12.13130.2009).</a:t>
            </a:r>
            <a:endParaRPr/>
          </a:p>
          <a:p>
            <a:pPr>
              <a:spcAft>
                <a:spcPts val="1000"/>
              </a:spcAft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00" b="1" i="0">
                <a:solidFill>
                  <a:srgbClr val="0F172A"/>
                </a:solidFill>
                <a:latin typeface="Segoe UI"/>
              </a:rPr>
              <a:t>Эргономика и режим труда:</a:t>
            </a:r>
            <a:r>
              <a:rPr sz="1600" b="0" i="0">
                <a:solidFill>
                  <a:srgbClr val="334155"/>
                </a:solidFill>
                <a:latin typeface="Segoe UI"/>
              </a:rPr>
              <a:t> регламентированные перерывы 10–15 мин при работе с ПК.</a:t>
            </a:r>
            <a:endParaRPr/>
          </a:p>
        </p:txBody>
      </p:sp>
      <p:pic>
        <p:nvPicPr>
          <p:cNvPr id="86039067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885739" name="Rectangle 1"/>
          <p:cNvSpPr/>
          <p:nvPr/>
        </p:nvSpPr>
        <p:spPr bwMode="auto"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5518169" name="TextBox 2"/>
          <p:cNvSpPr txBox="1"/>
          <p:nvPr/>
        </p:nvSpPr>
        <p:spPr bwMode="auto">
          <a:xfrm>
            <a:off x="548640" y="384048"/>
            <a:ext cx="11094415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defRPr/>
            </a:pPr>
            <a:r>
              <a:rPr sz="1200" b="1" i="0">
                <a:solidFill>
                  <a:srgbClr val="2563EB"/>
                </a:solidFill>
                <a:latin typeface="Segoe UI"/>
              </a:rPr>
              <a:t>РЕЗУЛЬТАТЫ РАБОТЫ</a:t>
            </a:r>
            <a:endParaRPr/>
          </a:p>
          <a:p>
            <a:pPr>
              <a:defRPr/>
            </a:pPr>
            <a:r>
              <a:rPr sz="2600" b="1" i="0">
                <a:solidFill>
                  <a:srgbClr val="0F172A"/>
                </a:solidFill>
                <a:latin typeface="Segoe UI"/>
              </a:rPr>
              <a:t>Заключение</a:t>
            </a:r>
            <a:endParaRPr/>
          </a:p>
        </p:txBody>
      </p:sp>
      <p:sp>
        <p:nvSpPr>
          <p:cNvPr id="429435679" name="Rectangle 3"/>
          <p:cNvSpPr/>
          <p:nvPr/>
        </p:nvSpPr>
        <p:spPr bwMode="auto">
          <a:xfrm>
            <a:off x="566928" y="1335024"/>
            <a:ext cx="20116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5576332" name="TextBox 4"/>
          <p:cNvSpPr txBox="1"/>
          <p:nvPr/>
        </p:nvSpPr>
        <p:spPr bwMode="auto"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defRPr/>
            </a:pPr>
            <a:r>
              <a:rPr sz="1000" b="0" i="0">
                <a:solidFill>
                  <a:srgbClr val="64748B"/>
                </a:solidFill>
                <a:latin typeface="Segoe UI"/>
              </a:rPr>
              <a:t>LocalCloud · ВКР</a:t>
            </a:r>
            <a:endParaRPr/>
          </a:p>
        </p:txBody>
      </p:sp>
      <p:sp>
        <p:nvSpPr>
          <p:cNvPr id="75168688" name="TextBox 5"/>
          <p:cNvSpPr txBox="1"/>
          <p:nvPr/>
        </p:nvSpPr>
        <p:spPr bwMode="auto"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defRPr/>
            </a:pPr>
            <a:r>
              <a:rPr sz="1100" b="0" i="0">
                <a:solidFill>
                  <a:srgbClr val="64748B"/>
                </a:solidFill>
                <a:latin typeface="Segoe UI"/>
              </a:rPr>
              <a:t>20</a:t>
            </a:r>
            <a:endParaRPr/>
          </a:p>
        </p:txBody>
      </p:sp>
      <p:sp>
        <p:nvSpPr>
          <p:cNvPr id="170576456" name="TextBox 6"/>
          <p:cNvSpPr txBox="1"/>
          <p:nvPr/>
        </p:nvSpPr>
        <p:spPr bwMode="auto">
          <a:xfrm>
            <a:off x="640080" y="1691640"/>
            <a:ext cx="10911535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Все поставленные задачи решены; цель достигнута.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Создан готовый к развёртыванию продукт: стек из 6 сервисов поднимается одной командой, конфигурация автоматически подбирается под ресурсы хоста.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Ключевое решение — файловый трафик в обход backend — позволяет обслуживать файлы, размер которых многократно превышает ОЗУ сервера.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Качество подтверждено: 7679 автотестов, покрытие 98,6 % / 90,2 %, нагрузочное и security-тестирование.</a:t>
            </a:r>
            <a:endParaRPr/>
          </a:p>
          <a:p>
            <a:pPr>
              <a:spcAft>
                <a:spcPts val="1200"/>
              </a:spcAft>
              <a:defRPr/>
            </a:pPr>
            <a:r>
              <a:rPr sz="1650" b="1" i="0">
                <a:solidFill>
                  <a:srgbClr val="2563EB"/>
                </a:solidFill>
                <a:latin typeface="Segoe UI"/>
              </a:rPr>
              <a:t>▪ </a:t>
            </a:r>
            <a:r>
              <a:rPr sz="1650" b="0" i="0">
                <a:solidFill>
                  <a:srgbClr val="334155"/>
                </a:solidFill>
                <a:latin typeface="Segoe UI"/>
              </a:rPr>
              <a:t>Переиспользуемые решения: presigned multipart, очередь задач в СУБД, наследуемые права на дерево.</a:t>
            </a:r>
            <a:endParaRPr/>
          </a:p>
        </p:txBody>
      </p:sp>
      <p:pic>
        <p:nvPicPr>
          <p:cNvPr id="85785182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77138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75623293" name="Rectangle 2"/>
          <p:cNvSpPr/>
          <p:nvPr/>
        </p:nvSpPr>
        <p:spPr bwMode="auto"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9158515" name="Rectangle 3"/>
          <p:cNvSpPr/>
          <p:nvPr/>
        </p:nvSpPr>
        <p:spPr bwMode="auto">
          <a:xfrm>
            <a:off x="0" y="6693408"/>
            <a:ext cx="12191695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8466810" name="TextBox 4"/>
          <p:cNvSpPr txBox="1"/>
          <p:nvPr/>
        </p:nvSpPr>
        <p:spPr bwMode="auto">
          <a:xfrm>
            <a:off x="914400" y="2377440"/>
            <a:ext cx="10362895" cy="21031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defRPr/>
            </a:pPr>
            <a:r>
              <a:rPr sz="4000" b="1" i="0">
                <a:solidFill>
                  <a:srgbClr val="FFFFFF"/>
                </a:solidFill>
                <a:latin typeface="Segoe UI"/>
              </a:rPr>
              <a:t>Спасибо за внимание!</a:t>
            </a:r>
            <a:endParaRPr/>
          </a:p>
          <a:p>
            <a:pPr algn="ctr">
              <a:defRPr/>
            </a:pPr>
            <a:r>
              <a:rPr sz="1800" b="0" i="0">
                <a:solidFill>
                  <a:srgbClr val="CBD5E1"/>
                </a:solidFill>
                <a:latin typeface="Segoe UI"/>
              </a:rPr>
              <a:t>Готов ответить на вопросы</a:t>
            </a:r>
            <a:endParaRPr/>
          </a:p>
          <a:p>
            <a:pPr algn="ctr">
              <a:defRPr/>
            </a:pPr>
            <a:r>
              <a:rPr sz="1600" b="1" i="0">
                <a:solidFill>
                  <a:srgbClr val="2563EB"/>
                </a:solidFill>
                <a:latin typeface="Segoe UI"/>
              </a:rPr>
              <a:t>github.com/magomedov-dev/LocalCloud</a:t>
            </a:r>
            <a:endParaRPr/>
          </a:p>
        </p:txBody>
      </p:sp>
      <p:pic>
        <p:nvPicPr>
          <p:cNvPr id="133282434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054409" y="439014"/>
            <a:ext cx="628649" cy="62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22</Slides>
  <Notes>22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2026-06-23T17:24:06Z</dcterms:modified>
  <cp:category/>
</cp:coreProperties>
</file>